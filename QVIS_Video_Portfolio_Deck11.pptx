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6F2A89F-EAD1-4734-9667-EF5E6C12D62D}">
  <a:tblStyle styleId="{96F2A89F-EAD1-4734-9667-EF5E6C12D62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8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76" y="7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" name="Google Shape;2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6" name="Google Shape;29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3" name="Google Shape;33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6" name="Google Shape;34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2" name="Google Shape;38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5" name="Google Shape;39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6" name="Google Shape;406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4" name="Google Shape;454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6" name="Google Shape;486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8" name="Google Shape;518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0" name="Google Shape;550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4" name="Google Shape;574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97316"/>
          </a:solidFill>
          <a:ln w="1270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22960" y="9144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NETWORK SUPPORT  ·  PORTFOLIO  ·  VIDEO SERIES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822960" y="1371600"/>
            <a:ext cx="109728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0"/>
              <a:buFont typeface="Calibri"/>
              <a:buNone/>
            </a:pPr>
            <a:r>
              <a:rPr lang="en-US" sz="120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QVIS</a:t>
            </a:r>
            <a:endParaRPr sz="1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22960" y="324612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QVIS Technology Solutions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22960" y="379476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 fictional 10-person IT consultancy that has to scale to 20 — and the network I built for them.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3"/>
          <p:cNvCxnSpPr/>
          <p:nvPr/>
        </p:nvCxnSpPr>
        <p:spPr>
          <a:xfrm>
            <a:off x="822960" y="5029200"/>
            <a:ext cx="3657600" cy="0"/>
          </a:xfrm>
          <a:prstGeom prst="straightConnector1">
            <a:avLst/>
          </a:prstGeom>
          <a:noFill/>
          <a:ln w="3810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3"/>
          <p:cNvSpPr/>
          <p:nvPr/>
        </p:nvSpPr>
        <p:spPr>
          <a:xfrm>
            <a:off x="822960" y="51206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Olumide Akomolafe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822960" y="557784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Network Support Technician · Conestoga College · Cambridge, 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 / 23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365760" y="320040"/>
            <a:ext cx="1005840" cy="292608"/>
          </a:xfrm>
          <a:prstGeom prst="rect">
            <a:avLst/>
          </a:prstGeom>
          <a:solidFill>
            <a:srgbClr val="F97316"/>
          </a:solidFill>
          <a:ln w="1270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365760" y="32004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EP 01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554480" y="32004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WHO IS QVIS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365760" y="731520"/>
            <a:ext cx="114300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 10-person IT consultancy. Twelve months to 20.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365760" y="178308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500"/>
              <a:buFont typeface="Calibri"/>
              <a:buNone/>
            </a:pPr>
            <a:r>
              <a:rPr lang="en-US" sz="1500" b="0" i="1" u="none" strike="noStrike" cap="non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Small, sensitive, growing fast — every design lever pulled accordingly.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365760" y="2331720"/>
            <a:ext cx="3657600" cy="1828800"/>
          </a:xfrm>
          <a:prstGeom prst="rect">
            <a:avLst/>
          </a:prstGeom>
          <a:solidFill>
            <a:srgbClr val="1E293B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365760" y="2331720"/>
            <a:ext cx="54864" cy="1828800"/>
          </a:xfrm>
          <a:prstGeom prst="rect">
            <a:avLst/>
          </a:prstGeom>
          <a:solidFill>
            <a:srgbClr val="F97316"/>
          </a:solidFill>
          <a:ln w="1270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640080" y="25146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EMPLOYEES AT LAUNCH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640080" y="283464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40080" y="370332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 20 within 12 months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297680" y="2331720"/>
            <a:ext cx="3657600" cy="1828800"/>
          </a:xfrm>
          <a:prstGeom prst="rect">
            <a:avLst/>
          </a:prstGeom>
          <a:solidFill>
            <a:srgbClr val="1E293B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4297680" y="2331720"/>
            <a:ext cx="54864" cy="1828800"/>
          </a:xfrm>
          <a:prstGeom prst="rect">
            <a:avLst/>
          </a:prstGeom>
          <a:solidFill>
            <a:srgbClr val="F97316"/>
          </a:solidFill>
          <a:ln w="1270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572000" y="25146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CLIENT VERTICALS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572000" y="283464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572000" y="370332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legal · dental · accounting · manufacturing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8229600" y="2331720"/>
            <a:ext cx="3657600" cy="1828800"/>
          </a:xfrm>
          <a:prstGeom prst="rect">
            <a:avLst/>
          </a:prstGeom>
          <a:solidFill>
            <a:srgbClr val="1E293B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8229600" y="2331720"/>
            <a:ext cx="54864" cy="1828800"/>
          </a:xfrm>
          <a:prstGeom prst="rect">
            <a:avLst/>
          </a:prstGeom>
          <a:solidFill>
            <a:srgbClr val="F97316"/>
          </a:solidFill>
          <a:ln w="1270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8503920" y="25146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COMPLIANCE PRESSURE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8503920" y="283464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SOC 2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8503920" y="370332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client-driven · PIPEDA-aware · PHIPA-adjacent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365760" y="438912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868680" y="438912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Headcount small but sensitivity real — SOC 2 expectation from clients on day one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365760" y="489204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868680" y="48920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They grow — sizing for 10 means re-IP within the first year (no thanks)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365760" y="539496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868680" y="539496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Twelve named rooms on one floor — room layout drives the cabling, not the other way round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365760" y="644652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QVIS  ·  Olumide Akomolafe  ·  Conestoga Network Support Technician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 / 23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/>
          <p:nvPr/>
        </p:nvSpPr>
        <p:spPr>
          <a:xfrm>
            <a:off x="365760" y="320040"/>
            <a:ext cx="1005840" cy="292608"/>
          </a:xfrm>
          <a:prstGeom prst="rect">
            <a:avLst/>
          </a:prstGeom>
          <a:solidFill>
            <a:srgbClr val="F97316"/>
          </a:solidFill>
          <a:ln w="1270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365760" y="32004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EP 01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1554480" y="32004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WHAT THIS PORTFOLIO COVERS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365760" y="731520"/>
            <a:ext cx="114300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Four episodes. Four facets of a real Tier-1/2 build.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365760" y="178308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500"/>
              <a:buFont typeface="Calibri"/>
              <a:buNone/>
            </a:pPr>
            <a:r>
              <a:rPr lang="en-US" sz="1500" b="0" i="1" u="none" strike="noStrike" cap="non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Each one stands alone; together they answer "what would you do on day one?"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365760" y="2331720"/>
            <a:ext cx="11430000" cy="868680"/>
          </a:xfrm>
          <a:prstGeom prst="rect">
            <a:avLst/>
          </a:prstGeom>
          <a:solidFill>
            <a:srgbClr val="1E293B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365760" y="2331720"/>
            <a:ext cx="54864" cy="868680"/>
          </a:xfrm>
          <a:prstGeom prst="rect">
            <a:avLst/>
          </a:prstGeom>
          <a:solidFill>
            <a:srgbClr val="F97316"/>
          </a:solidFill>
          <a:ln w="1270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640080" y="2496312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1737360" y="24688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Meet QVIS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1737360" y="2788920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Brief · floor plan · design goals · why each call was made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365760" y="3291840"/>
            <a:ext cx="11430000" cy="868680"/>
          </a:xfrm>
          <a:prstGeom prst="rect">
            <a:avLst/>
          </a:prstGeom>
          <a:solidFill>
            <a:srgbClr val="1E293B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365760" y="3291840"/>
            <a:ext cx="54864" cy="868680"/>
          </a:xfrm>
          <a:prstGeom prst="rect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640080" y="3456432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1737360" y="34290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Build it in Packet Tracer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1737360" y="3749040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10 VLANs · trunks · inter-VLAN routing on the L3 core · named ACLs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365760" y="4251960"/>
            <a:ext cx="11430000" cy="868680"/>
          </a:xfrm>
          <a:prstGeom prst="rect">
            <a:avLst/>
          </a:prstGeom>
          <a:solidFill>
            <a:srgbClr val="1E293B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365760" y="4251960"/>
            <a:ext cx="54864" cy="868680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640080" y="4416552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1737360" y="438912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Identity and services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1737360" y="4709160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AD on Win Server 2022 · function-first OUs · AGDLP · DHCP · DNS · GPOs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365760" y="5212080"/>
            <a:ext cx="11430000" cy="868680"/>
          </a:xfrm>
          <a:prstGeom prst="rect">
            <a:avLst/>
          </a:prstGeom>
          <a:solidFill>
            <a:srgbClr val="1E293B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365760" y="5212080"/>
            <a:ext cx="54864" cy="86868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640080" y="5376672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1737360" y="53492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Troubleshoot like a technician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1737360" y="5669280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Three tickets · OSI-shaped triage · root cause · runbook fix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365760" y="6263640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~ 20 minutes total runtime  ·  screencast + voiceover  ·  source repo linked in description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365760" y="644652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QVIS  ·  Olumide Akomolafe  ·  Conestoga Network Support Technician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 / 23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"/>
          <p:cNvSpPr/>
          <p:nvPr/>
        </p:nvSpPr>
        <p:spPr>
          <a:xfrm>
            <a:off x="365760" y="320040"/>
            <a:ext cx="1005840" cy="292608"/>
          </a:xfrm>
          <a:prstGeom prst="rect">
            <a:avLst/>
          </a:prstGeom>
          <a:solidFill>
            <a:srgbClr val="F97316"/>
          </a:solidFill>
          <a:ln w="1270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365760" y="32004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EP 01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1554480" y="32004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THE BRIEF — IN ONE LINE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548640" y="1828800"/>
            <a:ext cx="11430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4000"/>
              <a:buFont typeface="Calibri"/>
              <a:buNone/>
            </a:pPr>
            <a:r>
              <a:rPr lang="en-US" sz="4000" b="0" i="1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"Build a network a real Tier-1 or Tier-2 technician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548640" y="2606040"/>
            <a:ext cx="11430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4000"/>
              <a:buFont typeface="Calibri"/>
              <a:buNone/>
            </a:pPr>
            <a:r>
              <a:rPr lang="en-US" sz="4000" b="1" i="1" u="none" strike="noStrike" cap="non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could be hired into on day one."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6"/>
          <p:cNvCxnSpPr/>
          <p:nvPr/>
        </p:nvCxnSpPr>
        <p:spPr>
          <a:xfrm>
            <a:off x="548640" y="4206240"/>
            <a:ext cx="2286000" cy="0"/>
          </a:xfrm>
          <a:prstGeom prst="straightConnector1">
            <a:avLst/>
          </a:prstGeom>
          <a:noFill/>
          <a:ln w="3810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3" name="Google Shape;103;p6"/>
          <p:cNvSpPr/>
          <p:nvPr/>
        </p:nvSpPr>
        <p:spPr>
          <a:xfrm>
            <a:off x="548640" y="43434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What that means in practice: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548640" y="4754880"/>
            <a:ext cx="114300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800"/>
              <a:buFont typeface="Calibri"/>
              <a:buChar char="■"/>
            </a:pPr>
            <a:r>
              <a:rPr lang="en-US" sz="18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No enterprise gear we wouldn't see in a 10-person office.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F1F5F9"/>
              </a:buClr>
              <a:buSzPts val="1800"/>
              <a:buFont typeface="Calibri"/>
              <a:buChar char="■"/>
            </a:pPr>
            <a:r>
              <a:rPr lang="en-US" sz="18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No over-engineering for marketing.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F1F5F9"/>
              </a:buClr>
              <a:buSzPts val="1800"/>
              <a:buFont typeface="Calibri"/>
              <a:buChar char="■"/>
            </a:pPr>
            <a:r>
              <a:rPr lang="en-US" sz="18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Every choice has to survive an audit.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365760" y="644652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QVIS  ·  Olumide Akomolafe  ·  Conestoga Network Support Technician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 / 23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"/>
          <p:cNvSpPr/>
          <p:nvPr/>
        </p:nvSpPr>
        <p:spPr>
          <a:xfrm>
            <a:off x="365760" y="320040"/>
            <a:ext cx="1005840" cy="292608"/>
          </a:xfrm>
          <a:prstGeom prst="rect">
            <a:avLst/>
          </a:prstGeom>
          <a:solidFill>
            <a:srgbClr val="F97316"/>
          </a:solidFill>
          <a:ln w="1270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365760" y="32004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EP 01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1554480" y="32004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FLOOR PLAN &amp; TOPOLOGY PREVIEW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365760" y="731520"/>
            <a:ext cx="114300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One floor, twelve rooms, two wings, server room in the middle.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365760" y="178308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500"/>
              <a:buFont typeface="Calibri"/>
              <a:buNone/>
            </a:pPr>
            <a:r>
              <a:rPr lang="en-US" sz="1500" b="0" i="1" u="none" strike="noStrike" cap="non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The room layout drives the cabling — TIA-568 90-metre run limit is the constraint.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365760" y="2011680"/>
            <a:ext cx="5943600" cy="4114800"/>
          </a:xfrm>
          <a:prstGeom prst="rect">
            <a:avLst/>
          </a:prstGeom>
          <a:solidFill>
            <a:srgbClr val="1E293B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640080" y="24688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NORTH WING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640080" y="274320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R1 Reception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640080" y="30175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R2 Exec office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640080" y="32918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R3 Finance/HR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640080" y="35661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R4 Sales bullpen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640080" y="384048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R8 Conference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640080" y="411480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R9 Huddle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640080" y="43891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R11 Break room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7"/>
          <p:cNvCxnSpPr/>
          <p:nvPr/>
        </p:nvCxnSpPr>
        <p:spPr>
          <a:xfrm>
            <a:off x="3383280" y="2697480"/>
            <a:ext cx="0" cy="3520440"/>
          </a:xfrm>
          <a:prstGeom prst="straightConnector1">
            <a:avLst/>
          </a:prstGeom>
          <a:noFill/>
          <a:ln w="12700" cap="flat" cmpd="sng">
            <a:solidFill>
              <a:srgbClr val="475569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27" name="Google Shape;127;p7"/>
          <p:cNvSpPr/>
          <p:nvPr/>
        </p:nvSpPr>
        <p:spPr>
          <a:xfrm>
            <a:off x="3566160" y="24688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SOUTH WING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3566160" y="274320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R5 Tech workstations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3566160" y="30175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R6 NOC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3566160" y="32918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R10 Training Lab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3566160" y="35661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R12 Storage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2194560" y="4937760"/>
            <a:ext cx="2286000" cy="822960"/>
          </a:xfrm>
          <a:prstGeom prst="rect">
            <a:avLst/>
          </a:prstGeom>
          <a:solidFill>
            <a:srgbClr val="FB923C"/>
          </a:solidFill>
          <a:ln w="1270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2194560" y="498348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R7 SERVER ROOM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2194560" y="530352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Centre of floor · keeps all desks &lt;90m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6492240" y="2011680"/>
            <a:ext cx="5303520" cy="4114800"/>
          </a:xfrm>
          <a:prstGeom prst="rect">
            <a:avLst/>
          </a:prstGeom>
          <a:solidFill>
            <a:srgbClr val="1E293B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6766560" y="2468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LOGICAL TOPOLOGY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8412480" y="2606040"/>
            <a:ext cx="1463040" cy="502920"/>
          </a:xfrm>
          <a:prstGeom prst="rect">
            <a:avLst/>
          </a:prstGeom>
          <a:solidFill>
            <a:srgbClr val="334155"/>
          </a:solidFill>
          <a:ln w="1905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8412480" y="265176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" name="Google Shape;139;p7"/>
          <p:cNvCxnSpPr/>
          <p:nvPr/>
        </p:nvCxnSpPr>
        <p:spPr>
          <a:xfrm>
            <a:off x="9144000" y="3108960"/>
            <a:ext cx="0" cy="274320"/>
          </a:xfrm>
          <a:prstGeom prst="straightConnector1">
            <a:avLst/>
          </a:prstGeom>
          <a:noFill/>
          <a:ln w="1905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0" name="Google Shape;140;p7"/>
          <p:cNvSpPr/>
          <p:nvPr/>
        </p:nvSpPr>
        <p:spPr>
          <a:xfrm>
            <a:off x="8412480" y="3383280"/>
            <a:ext cx="1463040" cy="502920"/>
          </a:xfrm>
          <a:prstGeom prst="rect">
            <a:avLst/>
          </a:prstGeom>
          <a:solidFill>
            <a:srgbClr val="334155"/>
          </a:solidFill>
          <a:ln w="1905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8412480" y="342900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8412480" y="3675888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Cisco 2911 · NAT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p7"/>
          <p:cNvCxnSpPr/>
          <p:nvPr/>
        </p:nvCxnSpPr>
        <p:spPr>
          <a:xfrm>
            <a:off x="9144000" y="3886200"/>
            <a:ext cx="0" cy="274320"/>
          </a:xfrm>
          <a:prstGeom prst="straightConnector1">
            <a:avLst/>
          </a:prstGeom>
          <a:noFill/>
          <a:ln w="254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4" name="Google Shape;144;p7"/>
          <p:cNvSpPr/>
          <p:nvPr/>
        </p:nvSpPr>
        <p:spPr>
          <a:xfrm>
            <a:off x="7772400" y="4160520"/>
            <a:ext cx="2743200" cy="502920"/>
          </a:xfrm>
          <a:prstGeom prst="rect">
            <a:avLst/>
          </a:prstGeom>
          <a:solidFill>
            <a:srgbClr val="334155"/>
          </a:solidFill>
          <a:ln w="1905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7772400" y="42062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CORE-SW1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7772400" y="4453128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L3 inter-VLAN · ACLs · SVI gateways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" name="Google Shape;147;p7"/>
          <p:cNvCxnSpPr/>
          <p:nvPr/>
        </p:nvCxnSpPr>
        <p:spPr>
          <a:xfrm flipH="1">
            <a:off x="7315200" y="4663440"/>
            <a:ext cx="914400" cy="640080"/>
          </a:xfrm>
          <a:prstGeom prst="straightConnector1">
            <a:avLst/>
          </a:prstGeom>
          <a:noFill/>
          <a:ln w="19050" cap="flat" cmpd="sng">
            <a:solidFill>
              <a:srgbClr val="06B6D4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48" name="Google Shape;148;p7"/>
          <p:cNvCxnSpPr/>
          <p:nvPr/>
        </p:nvCxnSpPr>
        <p:spPr>
          <a:xfrm>
            <a:off x="10058400" y="4663440"/>
            <a:ext cx="914400" cy="640080"/>
          </a:xfrm>
          <a:prstGeom prst="straightConnector1">
            <a:avLst/>
          </a:prstGeom>
          <a:noFill/>
          <a:ln w="19050" cap="flat" cmpd="sng">
            <a:solidFill>
              <a:srgbClr val="06B6D4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49" name="Google Shape;149;p7"/>
          <p:cNvSpPr/>
          <p:nvPr/>
        </p:nvSpPr>
        <p:spPr>
          <a:xfrm>
            <a:off x="6583680" y="5303520"/>
            <a:ext cx="1645920" cy="502920"/>
          </a:xfrm>
          <a:prstGeom prst="rect">
            <a:avLst/>
          </a:prstGeom>
          <a:solidFill>
            <a:srgbClr val="334155"/>
          </a:solidFill>
          <a:ln w="1905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6583680" y="534924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ACC-SW1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6583680" y="5596128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North wing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10058400" y="5303520"/>
            <a:ext cx="1645920" cy="502920"/>
          </a:xfrm>
          <a:prstGeom prst="rect">
            <a:avLst/>
          </a:prstGeom>
          <a:solidFill>
            <a:srgbClr val="334155"/>
          </a:solidFill>
          <a:ln w="1905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10058400" y="534924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ACC-SW2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10058400" y="5596128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South wing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6492240" y="5852160"/>
            <a:ext cx="5303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Trunks: 802.1Q · native VLAN 99 (black-hole)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365760" y="644652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QVIS  ·  Olumide Akomolafe  ·  Conestoga Network Support Technician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 / 23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365760" y="0"/>
            <a:ext cx="11430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EPISODE 02  ·  COMING UP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548640" y="2194560"/>
            <a:ext cx="114300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6400"/>
              <a:buFont typeface="Calibri"/>
              <a:buNone/>
            </a:pPr>
            <a:r>
              <a:rPr lang="en-US" sz="64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Building it in Packet Tracer</a:t>
            </a:r>
            <a:endParaRPr sz="6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548640" y="3383280"/>
            <a:ext cx="11430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2400"/>
              <a:buFont typeface="Calibri"/>
              <a:buNone/>
            </a:pPr>
            <a:r>
              <a:rPr lang="en-US" sz="2400" b="0" i="1" u="none" strike="noStrike" cap="non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VLANs · trunks · inter-VLAN routing on the L3 core · named extended ACLs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~5 minutes  ·  Cisco IOS configs walked line-by-line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 / 23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"/>
          <p:cNvSpPr/>
          <p:nvPr/>
        </p:nvSpPr>
        <p:spPr>
          <a:xfrm>
            <a:off x="365760" y="320040"/>
            <a:ext cx="1005840" cy="292608"/>
          </a:xfrm>
          <a:prstGeom prst="rect">
            <a:avLst/>
          </a:prstGeom>
          <a:solidFill>
            <a:srgbClr val="F97316"/>
          </a:solidFill>
          <a:ln w="1270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365760" y="32004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EP 02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1554480" y="32004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VLAN PLAN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365760" y="731520"/>
            <a:ext cx="114300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Segment by sensitivity, not by department label.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365760" y="178308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500"/>
              <a:buFont typeface="Calibri"/>
              <a:buNone/>
            </a:pPr>
            <a:r>
              <a:rPr lang="en-US" sz="1500" b="0" i="1" u="none" strike="noStrike" cap="non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Ten VLANs · /24 each · gateway .1 on every SVI · pool .20-.199 · native VLAN 99 is the black-hole.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9" name="Google Shape;179;p9"/>
          <p:cNvGraphicFramePr/>
          <p:nvPr/>
        </p:nvGraphicFramePr>
        <p:xfrm>
          <a:off x="365760" y="2331720"/>
          <a:ext cx="11429975" cy="4224550"/>
        </p:xfrm>
        <a:graphic>
          <a:graphicData uri="http://schemas.openxmlformats.org/drawingml/2006/table">
            <a:tbl>
              <a:tblPr>
                <a:noFill/>
                <a:tableStyleId>{96F2A89F-EAD1-4734-9667-EF5E6C12D62D}</a:tableStyleId>
              </a:tblPr>
              <a:tblGrid>
                <a:gridCol w="109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VLAN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Subnet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Purpose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92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B6D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6B6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MGMT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100"/>
                        <a:buFont typeface="Consolas"/>
                        <a:buNone/>
                      </a:pPr>
                      <a:r>
                        <a:rPr lang="en-US" sz="1100" u="none" strike="noStrike" cap="none">
                          <a:solidFill>
                            <a:srgbClr val="F1F5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10.10.10.0/24</a:t>
                      </a:r>
                      <a:endParaRPr sz="11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Network device management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SERVERS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100"/>
                        <a:buFont typeface="Consolas"/>
                        <a:buNone/>
                      </a:pPr>
                      <a:r>
                        <a:rPr lang="en-US" sz="1100" u="none" strike="noStrike" cap="none">
                          <a:solidFill>
                            <a:srgbClr val="F1F5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10.10.20.0/24</a:t>
                      </a:r>
                      <a:endParaRPr sz="11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DC1 · DC2 · FS1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9731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9731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EXEC-FIN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100"/>
                        <a:buFont typeface="Consolas"/>
                        <a:buNone/>
                      </a:pPr>
                      <a:r>
                        <a:rPr lang="en-US" sz="1100" u="none" strike="noStrike" cap="none">
                          <a:solidFill>
                            <a:srgbClr val="F1F5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10.10.30.0/24</a:t>
                      </a:r>
                      <a:endParaRPr sz="11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Executive + Finance + HR — most restricted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B6D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6B6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STAFF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100"/>
                        <a:buFont typeface="Consolas"/>
                        <a:buNone/>
                      </a:pPr>
                      <a:r>
                        <a:rPr lang="en-US" sz="1100" u="none" strike="noStrike" cap="none">
                          <a:solidFill>
                            <a:srgbClr val="F1F5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10.10.40.0/24</a:t>
                      </a:r>
                      <a:endParaRPr sz="11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 · Marketing · Admin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59E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TECH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100"/>
                        <a:buFont typeface="Consolas"/>
                        <a:buNone/>
                      </a:pPr>
                      <a:r>
                        <a:rPr lang="en-US" sz="1100" u="none" strike="noStrike" cap="none">
                          <a:solidFill>
                            <a:srgbClr val="F1F5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10.10.50.0/24</a:t>
                      </a:r>
                      <a:endParaRPr sz="11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 — full east-west, audited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LAB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100"/>
                        <a:buFont typeface="Consolas"/>
                        <a:buNone/>
                      </a:pPr>
                      <a:r>
                        <a:rPr lang="en-US" sz="1100" u="none" strike="noStrike" cap="none">
                          <a:solidFill>
                            <a:srgbClr val="F1F5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10.10.60.0/24</a:t>
                      </a:r>
                      <a:endParaRPr sz="11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Training Lab — one-way isolated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B6D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6B6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VOICE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100"/>
                        <a:buFont typeface="Consolas"/>
                        <a:buNone/>
                      </a:pPr>
                      <a:r>
                        <a:rPr lang="en-US" sz="1100" u="none" strike="noStrike" cap="none">
                          <a:solidFill>
                            <a:srgbClr val="F1F5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10.10.70.0/24</a:t>
                      </a:r>
                      <a:endParaRPr sz="11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VoIP (auxiliary VLAN on access ports)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PRINT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100"/>
                        <a:buFont typeface="Consolas"/>
                        <a:buNone/>
                      </a:pPr>
                      <a:r>
                        <a:rPr lang="en-US" sz="1100" u="none" strike="noStrike" cap="none">
                          <a:solidFill>
                            <a:srgbClr val="F1F5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10.10.80.0/24</a:t>
                      </a:r>
                      <a:endParaRPr sz="11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Printers + MFPs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GUEST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100"/>
                        <a:buFont typeface="Consolas"/>
                        <a:buNone/>
                      </a:pPr>
                      <a:r>
                        <a:rPr lang="en-US" sz="1100" u="none" strike="noStrike" cap="none">
                          <a:solidFill>
                            <a:srgbClr val="F1F5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10.10.90.0/24</a:t>
                      </a:r>
                      <a:endParaRPr sz="11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Guest Wi-Fi — internet only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99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BLACKHOLE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100"/>
                        <a:buFont typeface="Consolas"/>
                        <a:buNone/>
                      </a:pPr>
                      <a:r>
                        <a:rPr lang="en-US" sz="1100" u="none" strike="noStrike" cap="none">
                          <a:solidFill>
                            <a:srgbClr val="F1F5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—</a:t>
                      </a:r>
                      <a:endParaRPr sz="11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Native VLAN on every trunk · no SVI · no access port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80" name="Google Shape;180;p9"/>
          <p:cNvSpPr/>
          <p:nvPr/>
        </p:nvSpPr>
        <p:spPr>
          <a:xfrm>
            <a:off x="365760" y="644652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QVIS  ·  Olumide Akomolafe  ·  Conestoga Network Support Technician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 / 23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"/>
          <p:cNvSpPr/>
          <p:nvPr/>
        </p:nvSpPr>
        <p:spPr>
          <a:xfrm>
            <a:off x="365760" y="320040"/>
            <a:ext cx="1005840" cy="292608"/>
          </a:xfrm>
          <a:prstGeom prst="rect">
            <a:avLst/>
          </a:prstGeom>
          <a:solidFill>
            <a:srgbClr val="F97316"/>
          </a:solidFill>
          <a:ln w="1270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365760" y="32004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EP 02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1554480" y="32004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IP PLAN &amp; ADDRESS BUDGET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365760" y="731520"/>
            <a:ext cx="114300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Every user VLAN sized for 10× headroom.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365760" y="178308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500"/>
              <a:buFont typeface="Calibri"/>
              <a:buNone/>
            </a:pPr>
            <a:r>
              <a:rPr lang="en-US" sz="1500" b="0" i="1" u="none" strike="noStrike" cap="non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Doubling headcount fits in the same /24. No re-IP for the first three years.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365760" y="2103120"/>
            <a:ext cx="5486400" cy="3657600"/>
          </a:xfrm>
          <a:prstGeom prst="rect">
            <a:avLst/>
          </a:prstGeom>
          <a:solidFill>
            <a:srgbClr val="1E293B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0"/>
          <p:cNvSpPr/>
          <p:nvPr/>
        </p:nvSpPr>
        <p:spPr>
          <a:xfrm>
            <a:off x="548640" y="246888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PER-VLAN RANGE LAYOUT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594360" y="292608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F97316"/>
                </a:solidFill>
                <a:latin typeface="Consolas"/>
                <a:ea typeface="Consolas"/>
                <a:cs typeface="Consolas"/>
                <a:sym typeface="Consolas"/>
              </a:rPr>
              <a:t>.1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2194560" y="292608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Gateway (SVI on CORE-SW1)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594360" y="34290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.2 – .9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2194560" y="342900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Static infra (relay targets, APs)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594360" y="393192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.10 – .19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2194560" y="393192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Servers and printers (reservations)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594360" y="443484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.20 – .199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2194560" y="443484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DHCP pool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594360" y="49377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.200 – .254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2194560" y="493776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Reserved static / future growth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6126480" y="2103120"/>
            <a:ext cx="5669280" cy="3657600"/>
          </a:xfrm>
          <a:prstGeom prst="rect">
            <a:avLst/>
          </a:prstGeom>
          <a:solidFill>
            <a:srgbClr val="1E293B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6355080" y="246888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CRITICAL STATIC ASSIGNMENTS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6355080" y="29260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DC1 (AD + DNS + DHCP)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9509760" y="292608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FB923C"/>
                </a:solidFill>
                <a:latin typeface="Consolas"/>
                <a:ea typeface="Consolas"/>
                <a:cs typeface="Consolas"/>
                <a:sym typeface="Consolas"/>
              </a:rPr>
              <a:t>10.10.20.10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6355080" y="33192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DC2 (failover partner)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9509760" y="331927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FB923C"/>
                </a:solidFill>
                <a:latin typeface="Consolas"/>
                <a:ea typeface="Consolas"/>
                <a:cs typeface="Consolas"/>
                <a:sym typeface="Consolas"/>
              </a:rPr>
              <a:t>10.10.20.11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6355080" y="3712464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FS1 (file server)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9509760" y="3712464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FB923C"/>
                </a:solidFill>
                <a:latin typeface="Consolas"/>
                <a:ea typeface="Consolas"/>
                <a:cs typeface="Consolas"/>
                <a:sym typeface="Consolas"/>
              </a:rPr>
              <a:t>10.10.20.12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6355080" y="4105656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CORE-SW1 mgmt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9509760" y="4105656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FB923C"/>
                </a:solidFill>
                <a:latin typeface="Consolas"/>
                <a:ea typeface="Consolas"/>
                <a:cs typeface="Consolas"/>
                <a:sym typeface="Consolas"/>
              </a:rPr>
              <a:t>10.10.10.1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6355080" y="4498848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ACC-SW1 mgmt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9509760" y="4498848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FB923C"/>
                </a:solidFill>
                <a:latin typeface="Consolas"/>
                <a:ea typeface="Consolas"/>
                <a:cs typeface="Consolas"/>
                <a:sym typeface="Consolas"/>
              </a:rPr>
              <a:t>10.10.10.2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6355080" y="489204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ACC-SW2 mgmt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9509760" y="489204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FB923C"/>
                </a:solidFill>
                <a:latin typeface="Consolas"/>
                <a:ea typeface="Consolas"/>
                <a:cs typeface="Consolas"/>
                <a:sym typeface="Consolas"/>
              </a:rPr>
              <a:t>10.10.10.3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6355080" y="528523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R1 inside interface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9509760" y="528523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FB923C"/>
                </a:solidFill>
                <a:latin typeface="Consolas"/>
                <a:ea typeface="Consolas"/>
                <a:cs typeface="Consolas"/>
                <a:sym typeface="Consolas"/>
              </a:rPr>
              <a:t>10.10.0.1/30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365760" y="5989320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R1 ↔ CORE-SW1 routed P2P /30  ·  10.10.0.0/30  ·  no spanning-tree, pure L3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365760" y="644652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QVIS  ·  Olumide Akomolafe  ·  Conestoga Network Support Technician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8 / 23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"/>
          <p:cNvSpPr/>
          <p:nvPr/>
        </p:nvSpPr>
        <p:spPr>
          <a:xfrm>
            <a:off x="365760" y="320040"/>
            <a:ext cx="1005840" cy="292608"/>
          </a:xfrm>
          <a:prstGeom prst="rect">
            <a:avLst/>
          </a:prstGeom>
          <a:solidFill>
            <a:srgbClr val="F97316"/>
          </a:solidFill>
          <a:ln w="1270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365760" y="32004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EP 02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1554480" y="32004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EAST-WEST POLICY MATRIX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365760" y="731520"/>
            <a:ext cx="114300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Named extended ACLs on every SVI · inbound · log-on-deny.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365760" y="178308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500"/>
              <a:buFont typeface="Calibri"/>
              <a:buNone/>
            </a:pPr>
            <a:r>
              <a:rPr lang="en-US" sz="1500" b="0" i="1" u="none" strike="noStrike" cap="non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TECH can reach everywhere (it has to). LAB and GUEST are one-way isolated. Everyone else hits servers via permit-list.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3" name="Google Shape;233;p11"/>
          <p:cNvGraphicFramePr/>
          <p:nvPr/>
        </p:nvGraphicFramePr>
        <p:xfrm>
          <a:off x="365760" y="2331720"/>
          <a:ext cx="10515575" cy="2468850"/>
        </p:xfrm>
        <a:graphic>
          <a:graphicData uri="http://schemas.openxmlformats.org/drawingml/2006/table">
            <a:tbl>
              <a:tblPr>
                <a:noFill/>
                <a:tableStyleId>{96F2A89F-EAD1-4734-9667-EF5E6C12D62D}</a:tableStyleId>
              </a:tblPr>
              <a:tblGrid>
                <a:gridCol w="1554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From → To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EXEC-FIN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STAFF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TECH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LAB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SERVERS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PRINT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GUEST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Internet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92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EXEC-FIN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F59E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permit-list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STAFF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F59E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permit-list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TECH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B6D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06B6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mgmt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B6D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06B6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mgmt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LAB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GUEST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4" name="Google Shape;234;p11"/>
          <p:cNvSpPr/>
          <p:nvPr/>
        </p:nvSpPr>
        <p:spPr>
          <a:xfrm>
            <a:off x="365760" y="512064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Permit-list to SERVERS = DNS, DHCP, Kerberos, LDAP/LDAPS, SMB, print. Anything else is denied with log.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365760" y="5577840"/>
            <a:ext cx="11430000" cy="640080"/>
          </a:xfrm>
          <a:prstGeom prst="rect">
            <a:avLst/>
          </a:prstGeom>
          <a:solidFill>
            <a:srgbClr val="1E293B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1"/>
          <p:cNvSpPr/>
          <p:nvPr/>
        </p:nvSpPr>
        <p:spPr>
          <a:xfrm>
            <a:off x="548640" y="562356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Why this is the firewall — for a 10-person office an extended ACL on the L3 core IS the policy enforcement layer. No separate appliance needed at this stage.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9 / 23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2"/>
          <p:cNvSpPr/>
          <p:nvPr/>
        </p:nvSpPr>
        <p:spPr>
          <a:xfrm>
            <a:off x="365760" y="0"/>
            <a:ext cx="11430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EPISODE 03  ·  COMING UP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548640" y="2194560"/>
            <a:ext cx="114300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6400"/>
              <a:buFont typeface="Calibri"/>
              <a:buNone/>
            </a:pPr>
            <a:r>
              <a:rPr lang="en-US" sz="64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Identity and services</a:t>
            </a:r>
            <a:endParaRPr sz="6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548640" y="3383280"/>
            <a:ext cx="11430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2400"/>
              <a:buFont typeface="Calibri"/>
              <a:buNone/>
            </a:pPr>
            <a:r>
              <a:rPr lang="en-US" sz="2400" b="0" i="1" u="none" strike="noStrike" cap="non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Active Directory · function-first OUs · AGDLP · DHCP · DNS · GPOs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~5 minutes  ·  Windows Server 2022  ·  PowerShell scripts that are idempotent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10 / 23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"/>
          <p:cNvSpPr/>
          <p:nvPr/>
        </p:nvSpPr>
        <p:spPr>
          <a:xfrm>
            <a:off x="365760" y="320040"/>
            <a:ext cx="1005840" cy="292608"/>
          </a:xfrm>
          <a:prstGeom prst="rect">
            <a:avLst/>
          </a:prstGeom>
          <a:solidFill>
            <a:srgbClr val="F97316"/>
          </a:solidFill>
          <a:ln w="1270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3"/>
          <p:cNvSpPr/>
          <p:nvPr/>
        </p:nvSpPr>
        <p:spPr>
          <a:xfrm>
            <a:off x="365760" y="32004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EP 03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1554480" y="32004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IDENTITY STRATEGY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3"/>
          <p:cNvSpPr/>
          <p:nvPr/>
        </p:nvSpPr>
        <p:spPr>
          <a:xfrm>
            <a:off x="365760" y="731520"/>
            <a:ext cx="114300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Six decisions. None flashy. All defensible.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3"/>
          <p:cNvSpPr/>
          <p:nvPr/>
        </p:nvSpPr>
        <p:spPr>
          <a:xfrm>
            <a:off x="365760" y="178308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500"/>
              <a:buFont typeface="Calibri"/>
              <a:buNone/>
            </a:pPr>
            <a:r>
              <a:rPr lang="en-US" sz="1500" b="0" i="1" u="none" strike="noStrike" cap="non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qvis.local · Windows Server 2022 · functional level 2016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9" name="Google Shape;259;p13"/>
          <p:cNvGraphicFramePr/>
          <p:nvPr/>
        </p:nvGraphicFramePr>
        <p:xfrm>
          <a:off x="365760" y="2331720"/>
          <a:ext cx="11430000" cy="3200400"/>
        </p:xfrm>
        <a:graphic>
          <a:graphicData uri="http://schemas.openxmlformats.org/drawingml/2006/table">
            <a:tbl>
              <a:tblPr>
                <a:noFill/>
                <a:tableStyleId>{96F2A89F-EAD1-4734-9667-EF5E6C12D62D}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DECISION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CHOICE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WHY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92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B6D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6B6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Forest design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Single forest, single domain qvis.local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i="1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Twenty users does not justify multi-domain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B6D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6B6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Domain controllers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DC1 + DC2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i="1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DC2 also hosts NPS / RADIUS for Wi-Fi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B6D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6B6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FSMO placement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five roles on DC1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i="1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Documented seize-procedure on DC2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B6D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6B6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Functional level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2016 forest + domain on 2022 servers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i="1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Future-proof, tooling-compatible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B6D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6B6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UPN suffix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user@qvis.local internally, user@qvistech.ca externally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i="1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Same pattern · no user confusion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B6D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6B6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PDC emulator on DC1 → time.nist.gov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i="1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Kerberos working ≡ time hygiene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60" name="Google Shape;260;p13"/>
          <p:cNvSpPr/>
          <p:nvPr/>
        </p:nvSpPr>
        <p:spPr>
          <a:xfrm>
            <a:off x="365760" y="644652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QVIS  ·  Olumide Akomolafe  ·  Conestoga Network Support Technician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11 / 23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4"/>
          <p:cNvSpPr/>
          <p:nvPr/>
        </p:nvSpPr>
        <p:spPr>
          <a:xfrm>
            <a:off x="365760" y="320040"/>
            <a:ext cx="1005840" cy="292608"/>
          </a:xfrm>
          <a:prstGeom prst="rect">
            <a:avLst/>
          </a:prstGeom>
          <a:solidFill>
            <a:srgbClr val="F97316"/>
          </a:solidFill>
          <a:ln w="1270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4"/>
          <p:cNvSpPr/>
          <p:nvPr/>
        </p:nvSpPr>
        <p:spPr>
          <a:xfrm>
            <a:off x="365760" y="32004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EP 03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4"/>
          <p:cNvSpPr/>
          <p:nvPr/>
        </p:nvSpPr>
        <p:spPr>
          <a:xfrm>
            <a:off x="1554480" y="32004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OU DESIGN — FUNCTION FIRST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365760" y="731520"/>
            <a:ext cx="114300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Shape OUs by what they do, not by which team they belong to.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4"/>
          <p:cNvSpPr/>
          <p:nvPr/>
        </p:nvSpPr>
        <p:spPr>
          <a:xfrm>
            <a:off x="365760" y="178308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500"/>
              <a:buFont typeface="Calibri"/>
              <a:buNone/>
            </a:pPr>
            <a:r>
              <a:rPr lang="en-US" sz="1500" b="0" i="1" u="none" strike="noStrike" cap="non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GPOs target behaviour (USB block, screen lock) rather than departments. Computers move with users. One disabled-account hold-out at the top.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4"/>
          <p:cNvSpPr/>
          <p:nvPr/>
        </p:nvSpPr>
        <p:spPr>
          <a:xfrm>
            <a:off x="365760" y="2103120"/>
            <a:ext cx="11430000" cy="4206240"/>
          </a:xfrm>
          <a:prstGeom prst="rect">
            <a:avLst/>
          </a:prstGeom>
          <a:solidFill>
            <a:srgbClr val="1E293B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4"/>
          <p:cNvSpPr/>
          <p:nvPr/>
        </p:nvSpPr>
        <p:spPr>
          <a:xfrm>
            <a:off x="640080" y="24688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800"/>
              <a:buFont typeface="Consolas"/>
              <a:buNone/>
            </a:pPr>
            <a:r>
              <a:rPr lang="en-US" sz="1800" b="1" i="0" u="none" strike="noStrike" cap="none">
                <a:solidFill>
                  <a:srgbClr val="FB923C"/>
                </a:solidFill>
                <a:latin typeface="Consolas"/>
                <a:ea typeface="Consolas"/>
                <a:cs typeface="Consolas"/>
                <a:sym typeface="Consolas"/>
              </a:rPr>
              <a:t>qvis.local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4"/>
          <p:cNvSpPr/>
          <p:nvPr/>
        </p:nvSpPr>
        <p:spPr>
          <a:xfrm>
            <a:off x="640080" y="2926080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300"/>
              <a:buFont typeface="Consolas"/>
              <a:buNone/>
            </a:pPr>
            <a:r>
              <a:rPr lang="en-US" sz="1300" b="0" i="0" u="none" strike="noStrike" cap="none">
                <a:solidFill>
                  <a:srgbClr val="FB923C"/>
                </a:solidFill>
                <a:latin typeface="Consolas"/>
                <a:ea typeface="Consolas"/>
                <a:cs typeface="Consolas"/>
                <a:sym typeface="Consolas"/>
              </a:rPr>
              <a:t>└── OU = QVIS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4"/>
          <p:cNvSpPr/>
          <p:nvPr/>
        </p:nvSpPr>
        <p:spPr>
          <a:xfrm>
            <a:off x="640080" y="3127248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onsolas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    ├── OU = _Disabled                       ← offboarded users / decommissioned PCs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4"/>
          <p:cNvSpPr/>
          <p:nvPr/>
        </p:nvSpPr>
        <p:spPr>
          <a:xfrm>
            <a:off x="640080" y="3328416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onsolas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    ├── OU = ServiceAccounts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4"/>
          <p:cNvSpPr/>
          <p:nvPr/>
        </p:nvSpPr>
        <p:spPr>
          <a:xfrm>
            <a:off x="640080" y="3529584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300"/>
              <a:buFont typeface="Consolas"/>
              <a:buNone/>
            </a:pPr>
            <a:r>
              <a:rPr lang="en-US" sz="1300" b="0" i="0" u="none" strike="noStrike" cap="non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    ├── OU = Users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4"/>
          <p:cNvSpPr/>
          <p:nvPr/>
        </p:nvSpPr>
        <p:spPr>
          <a:xfrm>
            <a:off x="640080" y="3730752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lang="en-US" sz="1300" b="0" i="0" u="none" strike="noStrike" cap="non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│   ├── OU = Executive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4"/>
          <p:cNvSpPr/>
          <p:nvPr/>
        </p:nvSpPr>
        <p:spPr>
          <a:xfrm>
            <a:off x="640080" y="3931920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lang="en-US" sz="1300" b="0" i="0" u="none" strike="noStrike" cap="non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│   ├── OU = Finance-HR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4"/>
          <p:cNvSpPr/>
          <p:nvPr/>
        </p:nvSpPr>
        <p:spPr>
          <a:xfrm>
            <a:off x="640080" y="4133088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lang="en-US" sz="1300" b="0" i="0" u="none" strike="noStrike" cap="non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│   ├── OU = Sales-Marketing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4"/>
          <p:cNvSpPr/>
          <p:nvPr/>
        </p:nvSpPr>
        <p:spPr>
          <a:xfrm>
            <a:off x="640080" y="4334256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lang="en-US" sz="1300" b="0" i="0" u="none" strike="noStrike" cap="non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│   ├── OU = Technical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4"/>
          <p:cNvSpPr/>
          <p:nvPr/>
        </p:nvSpPr>
        <p:spPr>
          <a:xfrm>
            <a:off x="640080" y="4535424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lang="en-US" sz="1300" b="0" i="0" u="none" strike="noStrike" cap="non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│   │   ├── OU = Network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4"/>
          <p:cNvSpPr/>
          <p:nvPr/>
        </p:nvSpPr>
        <p:spPr>
          <a:xfrm>
            <a:off x="640080" y="4736592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lang="en-US" sz="1300" b="0" i="0" u="none" strike="noStrike" cap="non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│   │   └── OU = Cloud-Sysadmin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4"/>
          <p:cNvSpPr/>
          <p:nvPr/>
        </p:nvSpPr>
        <p:spPr>
          <a:xfrm>
            <a:off x="640080" y="4937760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lang="en-US" sz="1300" b="0" i="0" u="none" strike="noStrike" cap="non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│   └── OU = Support-Admin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4"/>
          <p:cNvSpPr/>
          <p:nvPr/>
        </p:nvSpPr>
        <p:spPr>
          <a:xfrm>
            <a:off x="640080" y="5138928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300"/>
              <a:buFont typeface="Consolas"/>
              <a:buNone/>
            </a:pPr>
            <a:r>
              <a:rPr lang="en-US" sz="1300" b="0" i="0" u="none" strike="noStrike" cap="non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    ├── OU = Computers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4"/>
          <p:cNvSpPr/>
          <p:nvPr/>
        </p:nvSpPr>
        <p:spPr>
          <a:xfrm>
            <a:off x="640080" y="5340096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lang="en-US" sz="1300" b="0" i="0" u="none" strike="noStrike" cap="non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│   ├── OU = Workstations  (mirrors departments)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4"/>
          <p:cNvSpPr/>
          <p:nvPr/>
        </p:nvSpPr>
        <p:spPr>
          <a:xfrm>
            <a:off x="640080" y="5541264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lang="en-US" sz="1300" b="0" i="0" u="none" strike="noStrike" cap="non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│   ├── OU = Laptops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4"/>
          <p:cNvSpPr/>
          <p:nvPr/>
        </p:nvSpPr>
        <p:spPr>
          <a:xfrm>
            <a:off x="640080" y="5742432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lang="en-US" sz="1300" b="0" i="0" u="none" strike="noStrike" cap="non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│   └── OU = Servers  (FileServers, Application)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4"/>
          <p:cNvSpPr/>
          <p:nvPr/>
        </p:nvSpPr>
        <p:spPr>
          <a:xfrm>
            <a:off x="640080" y="5943600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300"/>
              <a:buFont typeface="Consolas"/>
              <a:buNone/>
            </a:pPr>
            <a:r>
              <a:rPr lang="en-US" sz="1300" b="0" i="0" u="none" strike="noStrike" cap="non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    └── OU = Groups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4"/>
          <p:cNvSpPr/>
          <p:nvPr/>
        </p:nvSpPr>
        <p:spPr>
          <a:xfrm>
            <a:off x="640080" y="6144768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lang="en-US" sz="1300" b="0" i="0" u="none" strike="noStrike" cap="non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  ├── OU = Security (Role-Based · Resource · Privileged)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4"/>
          <p:cNvSpPr/>
          <p:nvPr/>
        </p:nvSpPr>
        <p:spPr>
          <a:xfrm>
            <a:off x="640080" y="6345936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onsolas"/>
              <a:buNone/>
            </a:pPr>
            <a:r>
              <a:rPr lang="en-US" sz="1300" b="0" i="0" u="none" strike="noStrike" cap="non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  └── OU = Distribution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4"/>
          <p:cNvSpPr/>
          <p:nvPr/>
        </p:nvSpPr>
        <p:spPr>
          <a:xfrm>
            <a:off x="365760" y="644652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QVIS  ·  Olumide Akomolafe  ·  Conestoga Network Support Technician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4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12 / 23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5"/>
          <p:cNvSpPr/>
          <p:nvPr/>
        </p:nvSpPr>
        <p:spPr>
          <a:xfrm>
            <a:off x="365760" y="320040"/>
            <a:ext cx="1005840" cy="292608"/>
          </a:xfrm>
          <a:prstGeom prst="rect">
            <a:avLst/>
          </a:prstGeom>
          <a:solidFill>
            <a:srgbClr val="F97316"/>
          </a:solidFill>
          <a:ln w="1270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5"/>
          <p:cNvSpPr/>
          <p:nvPr/>
        </p:nvSpPr>
        <p:spPr>
          <a:xfrm>
            <a:off x="365760" y="32004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EP 03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5"/>
          <p:cNvSpPr/>
          <p:nvPr/>
        </p:nvSpPr>
        <p:spPr>
          <a:xfrm>
            <a:off x="1554480" y="32004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AGDLP GROUP NESTING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5"/>
          <p:cNvSpPr/>
          <p:nvPr/>
        </p:nvSpPr>
        <p:spPr>
          <a:xfrm>
            <a:off x="365760" y="731520"/>
            <a:ext cx="114300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Accounts → Global (role) → Domain Local (resource) → Permission.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5"/>
          <p:cNvSpPr/>
          <p:nvPr/>
        </p:nvSpPr>
        <p:spPr>
          <a:xfrm>
            <a:off x="365760" y="178308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500"/>
              <a:buFont typeface="Calibri"/>
              <a:buNone/>
            </a:pPr>
            <a:r>
              <a:rPr lang="en-US" sz="1500" b="0" i="1" u="none" strike="noStrike" cap="non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No user ever ACL'd directly. No global group ever ACL'd directly.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5"/>
          <p:cNvSpPr/>
          <p:nvPr/>
        </p:nvSpPr>
        <p:spPr>
          <a:xfrm>
            <a:off x="365760" y="2286000"/>
            <a:ext cx="2743200" cy="2194560"/>
          </a:xfrm>
          <a:prstGeom prst="rect">
            <a:avLst/>
          </a:prstGeom>
          <a:solidFill>
            <a:srgbClr val="1E293B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5"/>
          <p:cNvSpPr/>
          <p:nvPr/>
        </p:nvSpPr>
        <p:spPr>
          <a:xfrm>
            <a:off x="1417320" y="2514600"/>
            <a:ext cx="640080" cy="640080"/>
          </a:xfrm>
          <a:prstGeom prst="ellipse">
            <a:avLst/>
          </a:prstGeom>
          <a:solidFill>
            <a:srgbClr val="F97316"/>
          </a:solidFill>
          <a:ln w="1270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5"/>
          <p:cNvSpPr/>
          <p:nvPr/>
        </p:nvSpPr>
        <p:spPr>
          <a:xfrm>
            <a:off x="1417320" y="25146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5"/>
          <p:cNvSpPr/>
          <p:nvPr/>
        </p:nvSpPr>
        <p:spPr>
          <a:xfrm>
            <a:off x="457200" y="324612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Account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5"/>
          <p:cNvSpPr/>
          <p:nvPr/>
        </p:nvSpPr>
        <p:spPr>
          <a:xfrm>
            <a:off x="457200" y="3611880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olumide.akomolafe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" name="Google Shape;309;p15"/>
          <p:cNvCxnSpPr/>
          <p:nvPr/>
        </p:nvCxnSpPr>
        <p:spPr>
          <a:xfrm>
            <a:off x="3154680" y="3383280"/>
            <a:ext cx="91440" cy="0"/>
          </a:xfrm>
          <a:prstGeom prst="straightConnector1">
            <a:avLst/>
          </a:prstGeom>
          <a:noFill/>
          <a:ln w="2540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0" name="Google Shape;310;p15"/>
          <p:cNvSpPr/>
          <p:nvPr/>
        </p:nvSpPr>
        <p:spPr>
          <a:xfrm>
            <a:off x="3291840" y="2286000"/>
            <a:ext cx="2743200" cy="2194560"/>
          </a:xfrm>
          <a:prstGeom prst="rect">
            <a:avLst/>
          </a:prstGeom>
          <a:solidFill>
            <a:srgbClr val="1E293B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5"/>
          <p:cNvSpPr/>
          <p:nvPr/>
        </p:nvSpPr>
        <p:spPr>
          <a:xfrm>
            <a:off x="4343400" y="2514600"/>
            <a:ext cx="640080" cy="640080"/>
          </a:xfrm>
          <a:prstGeom prst="ellipse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5"/>
          <p:cNvSpPr/>
          <p:nvPr/>
        </p:nvSpPr>
        <p:spPr>
          <a:xfrm>
            <a:off x="4343400" y="25146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5"/>
          <p:cNvSpPr/>
          <p:nvPr/>
        </p:nvSpPr>
        <p:spPr>
          <a:xfrm>
            <a:off x="3383280" y="324612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Global (role)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5"/>
          <p:cNvSpPr/>
          <p:nvPr/>
        </p:nvSpPr>
        <p:spPr>
          <a:xfrm>
            <a:off x="3383280" y="3611880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G_Network_Engineers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5" name="Google Shape;315;p15"/>
          <p:cNvCxnSpPr/>
          <p:nvPr/>
        </p:nvCxnSpPr>
        <p:spPr>
          <a:xfrm>
            <a:off x="6080760" y="3383280"/>
            <a:ext cx="91440" cy="0"/>
          </a:xfrm>
          <a:prstGeom prst="straightConnector1">
            <a:avLst/>
          </a:prstGeom>
          <a:noFill/>
          <a:ln w="2540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6" name="Google Shape;316;p15"/>
          <p:cNvSpPr/>
          <p:nvPr/>
        </p:nvSpPr>
        <p:spPr>
          <a:xfrm>
            <a:off x="6217920" y="2286000"/>
            <a:ext cx="2743200" cy="2194560"/>
          </a:xfrm>
          <a:prstGeom prst="rect">
            <a:avLst/>
          </a:prstGeom>
          <a:solidFill>
            <a:srgbClr val="1E293B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5"/>
          <p:cNvSpPr/>
          <p:nvPr/>
        </p:nvSpPr>
        <p:spPr>
          <a:xfrm>
            <a:off x="7269480" y="2514600"/>
            <a:ext cx="640080" cy="64008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5"/>
          <p:cNvSpPr/>
          <p:nvPr/>
        </p:nvSpPr>
        <p:spPr>
          <a:xfrm>
            <a:off x="7269480" y="25146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DL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5"/>
          <p:cNvSpPr/>
          <p:nvPr/>
        </p:nvSpPr>
        <p:spPr>
          <a:xfrm>
            <a:off x="6309360" y="324612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Domain Local (resource)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5"/>
          <p:cNvSpPr/>
          <p:nvPr/>
        </p:nvSpPr>
        <p:spPr>
          <a:xfrm>
            <a:off x="6309360" y="3611880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DL_Share_NetworkDocs_RW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1" name="Google Shape;321;p15"/>
          <p:cNvCxnSpPr/>
          <p:nvPr/>
        </p:nvCxnSpPr>
        <p:spPr>
          <a:xfrm>
            <a:off x="9006840" y="3383280"/>
            <a:ext cx="91440" cy="0"/>
          </a:xfrm>
          <a:prstGeom prst="straightConnector1">
            <a:avLst/>
          </a:prstGeom>
          <a:noFill/>
          <a:ln w="2540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2" name="Google Shape;322;p15"/>
          <p:cNvSpPr/>
          <p:nvPr/>
        </p:nvSpPr>
        <p:spPr>
          <a:xfrm>
            <a:off x="9144000" y="2286000"/>
            <a:ext cx="2743200" cy="2194560"/>
          </a:xfrm>
          <a:prstGeom prst="rect">
            <a:avLst/>
          </a:prstGeom>
          <a:solidFill>
            <a:srgbClr val="1E293B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5"/>
          <p:cNvSpPr/>
          <p:nvPr/>
        </p:nvSpPr>
        <p:spPr>
          <a:xfrm>
            <a:off x="10195560" y="2514600"/>
            <a:ext cx="640080" cy="64008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5"/>
          <p:cNvSpPr/>
          <p:nvPr/>
        </p:nvSpPr>
        <p:spPr>
          <a:xfrm>
            <a:off x="10195560" y="25146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5"/>
          <p:cNvSpPr/>
          <p:nvPr/>
        </p:nvSpPr>
        <p:spPr>
          <a:xfrm>
            <a:off x="9235440" y="324612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Permission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5"/>
          <p:cNvSpPr/>
          <p:nvPr/>
        </p:nvSpPr>
        <p:spPr>
          <a:xfrm>
            <a:off x="9235440" y="3611880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NTFS Modify on \\FS1\NetworkDocs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5"/>
          <p:cNvSpPr/>
          <p:nvPr/>
        </p:nvSpPr>
        <p:spPr>
          <a:xfrm>
            <a:off x="365760" y="4754880"/>
            <a:ext cx="11430000" cy="1463040"/>
          </a:xfrm>
          <a:prstGeom prst="rect">
            <a:avLst/>
          </a:prstGeom>
          <a:solidFill>
            <a:srgbClr val="1E293B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5"/>
          <p:cNvSpPr/>
          <p:nvPr/>
        </p:nvSpPr>
        <p:spPr>
          <a:xfrm>
            <a:off x="640080" y="4846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Why it matters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640080" y="516636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When Renata joins as Cybersecurity Analyst, I add her to G_Network_Engineers once. She inherits every share, printer, and VPN profile bound to that role. No share-by-share ACL editing. No drift. No "I thought you removed access in 2023."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5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13 / 23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6"/>
          <p:cNvSpPr/>
          <p:nvPr/>
        </p:nvSpPr>
        <p:spPr>
          <a:xfrm>
            <a:off x="365760" y="320040"/>
            <a:ext cx="1005840" cy="292608"/>
          </a:xfrm>
          <a:prstGeom prst="rect">
            <a:avLst/>
          </a:prstGeom>
          <a:solidFill>
            <a:srgbClr val="F97316"/>
          </a:solidFill>
          <a:ln w="1270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6"/>
          <p:cNvSpPr/>
          <p:nvPr/>
        </p:nvSpPr>
        <p:spPr>
          <a:xfrm>
            <a:off x="365760" y="32004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EP 03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6"/>
          <p:cNvSpPr/>
          <p:nvPr/>
        </p:nvSpPr>
        <p:spPr>
          <a:xfrm>
            <a:off x="1554480" y="32004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DHCP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6"/>
          <p:cNvSpPr/>
          <p:nvPr/>
        </p:nvSpPr>
        <p:spPr>
          <a:xfrm>
            <a:off x="365760" y="731520"/>
            <a:ext cx="114300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DC1 primary, DC2 failover — hot-standby, 5% reserve, 1-hour MCLT.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6"/>
          <p:cNvSpPr/>
          <p:nvPr/>
        </p:nvSpPr>
        <p:spPr>
          <a:xfrm>
            <a:off x="365760" y="178308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500"/>
              <a:buFont typeface="Calibri"/>
              <a:buNone/>
            </a:pPr>
            <a:r>
              <a:rPr lang="en-US" sz="1500" b="0" i="1" u="none" strike="noStrike" cap="non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ip helper-address on every SVI relays to both DCs. Lease 8 days normal, 4 hours for Guest and Lab.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1" name="Google Shape;341;p16"/>
          <p:cNvGraphicFramePr/>
          <p:nvPr/>
        </p:nvGraphicFramePr>
        <p:xfrm>
          <a:off x="365760" y="2331720"/>
          <a:ext cx="11430000" cy="3291800"/>
        </p:xfrm>
        <a:graphic>
          <a:graphicData uri="http://schemas.openxmlformats.org/drawingml/2006/table">
            <a:tbl>
              <a:tblPr>
                <a:noFill/>
                <a:tableStyleId>{96F2A89F-EAD1-4734-9667-EF5E6C12D62D}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SCOPE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RANGE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LEASE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NOTES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92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B6D4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6B6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QVIS-EXEC-FIN</a:t>
                      </a:r>
                      <a:endParaRPr sz="12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u="none" strike="noStrike" cap="none">
                          <a:solidFill>
                            <a:srgbClr val="F1F5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10.10.30.20 – .199</a:t>
                      </a:r>
                      <a:endParaRPr sz="12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B923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B92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days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i="1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Reserved .200+ for static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B6D4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6B6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QVIS-STAFF</a:t>
                      </a:r>
                      <a:endParaRPr sz="12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u="none" strike="noStrike" cap="none">
                          <a:solidFill>
                            <a:srgbClr val="F1F5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10.10.40.20 – .199</a:t>
                      </a:r>
                      <a:endParaRPr sz="12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B923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B92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days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i="1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B6D4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6B6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QVIS-TECH</a:t>
                      </a:r>
                      <a:endParaRPr sz="12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u="none" strike="noStrike" cap="none">
                          <a:solidFill>
                            <a:srgbClr val="F1F5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10.10.50.20 – .199</a:t>
                      </a:r>
                      <a:endParaRPr sz="12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B923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B92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days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i="1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B6D4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6B6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QVIS-LAB</a:t>
                      </a:r>
                      <a:endParaRPr sz="12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u="none" strike="noStrike" cap="none">
                          <a:solidFill>
                            <a:srgbClr val="F1F5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10.10.60.50 – .150</a:t>
                      </a:r>
                      <a:endParaRPr sz="12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B923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B92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hours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i="1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DNS handed out = DC1 only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B6D4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6B6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QVIS-VOICE</a:t>
                      </a:r>
                      <a:endParaRPr sz="12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u="none" strike="noStrike" cap="none">
                          <a:solidFill>
                            <a:srgbClr val="F1F5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10.10.70.20 – .199</a:t>
                      </a:r>
                      <a:endParaRPr sz="12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B923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B92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days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i="1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Option 150 → TFTP for phones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B6D4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6B6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QVIS-PRINT</a:t>
                      </a:r>
                      <a:endParaRPr sz="12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u="none" strike="noStrike" cap="none">
                          <a:solidFill>
                            <a:srgbClr val="F1F5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10.10.80.20 – .49</a:t>
                      </a:r>
                      <a:endParaRPr sz="12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B923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B92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days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i="1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Reservations only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B6D4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6B6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QVIS-GUEST</a:t>
                      </a:r>
                      <a:endParaRPr sz="12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u="none" strike="noStrike" cap="none">
                          <a:solidFill>
                            <a:srgbClr val="F1F5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10.10.90.20 – .254</a:t>
                      </a:r>
                      <a:endParaRPr sz="12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B923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B92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hours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i="1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DNS = 1.1.1.1 / 9.9.9.9 (no internal resolver)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42" name="Google Shape;342;p16"/>
          <p:cNvSpPr/>
          <p:nvPr/>
        </p:nvSpPr>
        <p:spPr>
          <a:xfrm>
            <a:off x="365760" y="644652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QVIS  ·  Olumide Akomolafe  ·  Conestoga Network Support Technician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6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14 / 23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7"/>
          <p:cNvSpPr/>
          <p:nvPr/>
        </p:nvSpPr>
        <p:spPr>
          <a:xfrm>
            <a:off x="365760" y="320040"/>
            <a:ext cx="1005840" cy="292608"/>
          </a:xfrm>
          <a:prstGeom prst="rect">
            <a:avLst/>
          </a:prstGeom>
          <a:solidFill>
            <a:srgbClr val="F97316"/>
          </a:solidFill>
          <a:ln w="1270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7"/>
          <p:cNvSpPr/>
          <p:nvPr/>
        </p:nvSpPr>
        <p:spPr>
          <a:xfrm>
            <a:off x="365760" y="32004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EP 03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7"/>
          <p:cNvSpPr/>
          <p:nvPr/>
        </p:nvSpPr>
        <p:spPr>
          <a:xfrm>
            <a:off x="1554480" y="32004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DNS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7"/>
          <p:cNvSpPr/>
          <p:nvPr/>
        </p:nvSpPr>
        <p:spPr>
          <a:xfrm>
            <a:off x="365760" y="731520"/>
            <a:ext cx="114300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AD-integrated · secure dynamic update only · forwarders fail closed.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7"/>
          <p:cNvSpPr/>
          <p:nvPr/>
        </p:nvSpPr>
        <p:spPr>
          <a:xfrm>
            <a:off x="365760" y="178308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500"/>
              <a:buFont typeface="Calibri"/>
              <a:buNone/>
            </a:pPr>
            <a:r>
              <a:rPr lang="en-US" sz="1500" b="0" i="1" u="none" strike="noStrike" cap="non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One reverse zone covers the whole /16 internal range. Scavenging on.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7"/>
          <p:cNvSpPr/>
          <p:nvPr/>
        </p:nvSpPr>
        <p:spPr>
          <a:xfrm>
            <a:off x="365760" y="2331720"/>
            <a:ext cx="3657600" cy="3657600"/>
          </a:xfrm>
          <a:prstGeom prst="rect">
            <a:avLst/>
          </a:prstGeom>
          <a:solidFill>
            <a:srgbClr val="1E293B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7"/>
          <p:cNvSpPr/>
          <p:nvPr/>
        </p:nvSpPr>
        <p:spPr>
          <a:xfrm>
            <a:off x="365760" y="2331720"/>
            <a:ext cx="3657600" cy="365760"/>
          </a:xfrm>
          <a:prstGeom prst="rect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7"/>
          <p:cNvSpPr/>
          <p:nvPr/>
        </p:nvSpPr>
        <p:spPr>
          <a:xfrm>
            <a:off x="457200" y="233172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FORWARD ZONE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7"/>
          <p:cNvSpPr/>
          <p:nvPr/>
        </p:nvSpPr>
        <p:spPr>
          <a:xfrm>
            <a:off x="640080" y="297180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qvis.local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7"/>
          <p:cNvSpPr/>
          <p:nvPr/>
        </p:nvSpPr>
        <p:spPr>
          <a:xfrm>
            <a:off x="640080" y="347472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AD-integrated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7"/>
          <p:cNvSpPr/>
          <p:nvPr/>
        </p:nvSpPr>
        <p:spPr>
          <a:xfrm>
            <a:off x="640080" y="397764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Secure dynamic update only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7"/>
          <p:cNvSpPr/>
          <p:nvPr/>
        </p:nvSpPr>
        <p:spPr>
          <a:xfrm>
            <a:off x="640080" y="448056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Replicates to every DC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7"/>
          <p:cNvSpPr/>
          <p:nvPr/>
        </p:nvSpPr>
        <p:spPr>
          <a:xfrm>
            <a:off x="640080" y="498348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Aging: 7d no-refresh + 7d refresh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7"/>
          <p:cNvSpPr/>
          <p:nvPr/>
        </p:nvSpPr>
        <p:spPr>
          <a:xfrm>
            <a:off x="4206240" y="2331720"/>
            <a:ext cx="3657600" cy="3657600"/>
          </a:xfrm>
          <a:prstGeom prst="rect">
            <a:avLst/>
          </a:prstGeom>
          <a:solidFill>
            <a:srgbClr val="1E293B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7"/>
          <p:cNvSpPr/>
          <p:nvPr/>
        </p:nvSpPr>
        <p:spPr>
          <a:xfrm>
            <a:off x="4206240" y="2331720"/>
            <a:ext cx="3657600" cy="365760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7"/>
          <p:cNvSpPr/>
          <p:nvPr/>
        </p:nvSpPr>
        <p:spPr>
          <a:xfrm>
            <a:off x="4297680" y="233172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REVERSE ZONE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7"/>
          <p:cNvSpPr/>
          <p:nvPr/>
        </p:nvSpPr>
        <p:spPr>
          <a:xfrm>
            <a:off x="4480560" y="297180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10.10.in-addr.arpa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7"/>
          <p:cNvSpPr/>
          <p:nvPr/>
        </p:nvSpPr>
        <p:spPr>
          <a:xfrm>
            <a:off x="4480560" y="347472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Covers entire /16 internal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7"/>
          <p:cNvSpPr/>
          <p:nvPr/>
        </p:nvSpPr>
        <p:spPr>
          <a:xfrm>
            <a:off x="4480560" y="397764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Single zone (no per-/24 sprawl)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7"/>
          <p:cNvSpPr/>
          <p:nvPr/>
        </p:nvSpPr>
        <p:spPr>
          <a:xfrm>
            <a:off x="4480560" y="448056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PTR records for static infra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7"/>
          <p:cNvSpPr/>
          <p:nvPr/>
        </p:nvSpPr>
        <p:spPr>
          <a:xfrm>
            <a:off x="4480560" y="498348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Auto-PTR on AD-joined hosts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7"/>
          <p:cNvSpPr/>
          <p:nvPr/>
        </p:nvSpPr>
        <p:spPr>
          <a:xfrm>
            <a:off x="8046720" y="2331720"/>
            <a:ext cx="3657600" cy="3657600"/>
          </a:xfrm>
          <a:prstGeom prst="rect">
            <a:avLst/>
          </a:prstGeom>
          <a:solidFill>
            <a:srgbClr val="1E293B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7"/>
          <p:cNvSpPr/>
          <p:nvPr/>
        </p:nvSpPr>
        <p:spPr>
          <a:xfrm>
            <a:off x="8046720" y="2331720"/>
            <a:ext cx="3657600" cy="365760"/>
          </a:xfrm>
          <a:prstGeom prst="rect">
            <a:avLst/>
          </a:prstGeom>
          <a:solidFill>
            <a:srgbClr val="FB923C"/>
          </a:solidFill>
          <a:ln w="12700" cap="flat" cmpd="sng">
            <a:solidFill>
              <a:srgbClr val="FB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7"/>
          <p:cNvSpPr/>
          <p:nvPr/>
        </p:nvSpPr>
        <p:spPr>
          <a:xfrm>
            <a:off x="8138160" y="233172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FORWARDERS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7"/>
          <p:cNvSpPr/>
          <p:nvPr/>
        </p:nvSpPr>
        <p:spPr>
          <a:xfrm>
            <a:off x="8321040" y="297180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1.1.1.1  (Cloudflare)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7"/>
          <p:cNvSpPr/>
          <p:nvPr/>
        </p:nvSpPr>
        <p:spPr>
          <a:xfrm>
            <a:off x="8321040" y="347472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9.9.9.9  (Quad9 – malicious-domain filter)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7"/>
          <p:cNvSpPr/>
          <p:nvPr/>
        </p:nvSpPr>
        <p:spPr>
          <a:xfrm>
            <a:off x="8321040" y="397764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Root hints DISABLED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7"/>
          <p:cNvSpPr/>
          <p:nvPr/>
        </p:nvSpPr>
        <p:spPr>
          <a:xfrm>
            <a:off x="8321040" y="448056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 fails closed if forwarders down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7"/>
          <p:cNvSpPr/>
          <p:nvPr/>
        </p:nvSpPr>
        <p:spPr>
          <a:xfrm>
            <a:off x="8321040" y="498348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5-second per-server timeout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7"/>
          <p:cNvSpPr/>
          <p:nvPr/>
        </p:nvSpPr>
        <p:spPr>
          <a:xfrm>
            <a:off x="365760" y="644652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QVIS  ·  Olumide Akomolafe  ·  Conestoga Network Support Technician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7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15 / 23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8"/>
          <p:cNvSpPr/>
          <p:nvPr/>
        </p:nvSpPr>
        <p:spPr>
          <a:xfrm>
            <a:off x="365760" y="320040"/>
            <a:ext cx="1005840" cy="292608"/>
          </a:xfrm>
          <a:prstGeom prst="rect">
            <a:avLst/>
          </a:prstGeom>
          <a:solidFill>
            <a:srgbClr val="F97316"/>
          </a:solidFill>
          <a:ln w="1270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18"/>
          <p:cNvSpPr/>
          <p:nvPr/>
        </p:nvSpPr>
        <p:spPr>
          <a:xfrm>
            <a:off x="365760" y="32004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EP 03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8"/>
          <p:cNvSpPr/>
          <p:nvPr/>
        </p:nvSpPr>
        <p:spPr>
          <a:xfrm>
            <a:off x="1554480" y="32004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BASELINE GROUP POLICIES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8"/>
          <p:cNvSpPr/>
          <p:nvPr/>
        </p:nvSpPr>
        <p:spPr>
          <a:xfrm>
            <a:off x="365760" y="731520"/>
            <a:ext cx="114300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Six GPOs. Each targets behaviour, not departments.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8"/>
          <p:cNvSpPr/>
          <p:nvPr/>
        </p:nvSpPr>
        <p:spPr>
          <a:xfrm>
            <a:off x="365760" y="178308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500"/>
              <a:buFont typeface="Calibri"/>
              <a:buNone/>
            </a:pPr>
            <a:r>
              <a:rPr lang="en-US" sz="1500" b="0" i="1" u="none" strike="noStrike" cap="non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One link per policy. WMI filters where the policy is computer-WMI conditional.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0" name="Google Shape;390;p18"/>
          <p:cNvGraphicFramePr/>
          <p:nvPr/>
        </p:nvGraphicFramePr>
        <p:xfrm>
          <a:off x="365760" y="2331720"/>
          <a:ext cx="11430025" cy="3520475"/>
        </p:xfrm>
        <a:graphic>
          <a:graphicData uri="http://schemas.openxmlformats.org/drawingml/2006/table">
            <a:tbl>
              <a:tblPr>
                <a:noFill/>
                <a:tableStyleId>{96F2A89F-EAD1-4734-9667-EF5E6C12D62D}</a:tableStyleId>
              </a:tblPr>
              <a:tblGrid>
                <a:gridCol w="329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GPO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LINKED TO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EFFECT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92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B6D4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6B6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GPO_Baseline_AllUsers</a:t>
                      </a:r>
                      <a:endParaRPr sz="12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OU=Users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i="1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12-char password complexity · screen lock 10 min · lockout 5/15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B6D4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6B6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GPO_Baseline_AllComputers</a:t>
                      </a:r>
                      <a:endParaRPr sz="12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OU=Computers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i="1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Firewall on · BitLocker required · SmartScreen · WSUS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B6D4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6B6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GPO_FinanceHR_USB_Block</a:t>
                      </a:r>
                      <a:endParaRPr sz="12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OU=Users/Finance-HR + Executive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i="1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Removable storage read/write denied for USBSTOR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B6D4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6B6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GPO_Mapped_Drives</a:t>
                      </a:r>
                      <a:endParaRPr sz="12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OU=Users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i="1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M: \\FS1\Shared · U: \\FS1\Users\%username% · dept drives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B6D4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6B6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GPO_Helpdesk_LocalAdmin</a:t>
                      </a:r>
                      <a:endParaRPr sz="12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OU=Computers/Workstations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i="1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LAPS · G_Helpdesk_T1 in local Admins via Restricted Groups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B6D4"/>
                        </a:buClr>
                        <a:buSzPts val="1200"/>
                        <a:buFont typeface="Consola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6B6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GPO_Lab_Lockdown</a:t>
                      </a:r>
                      <a:endParaRPr sz="12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1F5F9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OU=Computers/Workstations (WMI lab)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i="1" u="none" strike="noStrike" cap="non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corp drives · lab wallpaper · auto-logoff 18:00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7556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91" name="Google Shape;391;p18"/>
          <p:cNvSpPr/>
          <p:nvPr/>
        </p:nvSpPr>
        <p:spPr>
          <a:xfrm>
            <a:off x="365760" y="644652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QVIS  ·  Olumide Akomolafe  ·  Conestoga Network Support Technician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8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16 / 23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9"/>
          <p:cNvSpPr/>
          <p:nvPr/>
        </p:nvSpPr>
        <p:spPr>
          <a:xfrm>
            <a:off x="365760" y="0"/>
            <a:ext cx="11430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EPISODE 04  ·  COMING UP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9"/>
          <p:cNvSpPr/>
          <p:nvPr/>
        </p:nvSpPr>
        <p:spPr>
          <a:xfrm>
            <a:off x="548640" y="2194560"/>
            <a:ext cx="114300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6000"/>
              <a:buFont typeface="Calibri"/>
              <a:buNone/>
            </a:pPr>
            <a:r>
              <a:rPr lang="en-US" sz="60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Troubleshoot like a technician</a:t>
            </a:r>
            <a:endParaRPr sz="6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9"/>
          <p:cNvSpPr/>
          <p:nvPr/>
        </p:nvSpPr>
        <p:spPr>
          <a:xfrm>
            <a:off x="548640" y="3383280"/>
            <a:ext cx="11430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2400"/>
              <a:buFont typeface="Calibri"/>
              <a:buNone/>
            </a:pPr>
            <a:r>
              <a:rPr lang="en-US" sz="2400" b="0" i="1" u="none" strike="noStrike" cap="non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Three real tickets · OSI-shaped triage · root cause · runbook change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9"/>
          <p:cNvSpPr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~5 minutes  ·  the part hiring managers actually care about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9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17 / 23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0"/>
          <p:cNvSpPr/>
          <p:nvPr/>
        </p:nvSpPr>
        <p:spPr>
          <a:xfrm>
            <a:off x="365760" y="320040"/>
            <a:ext cx="1005840" cy="292608"/>
          </a:xfrm>
          <a:prstGeom prst="rect">
            <a:avLst/>
          </a:prstGeom>
          <a:solidFill>
            <a:srgbClr val="F97316"/>
          </a:solidFill>
          <a:ln w="1270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20"/>
          <p:cNvSpPr/>
          <p:nvPr/>
        </p:nvSpPr>
        <p:spPr>
          <a:xfrm>
            <a:off x="365760" y="32004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EP 04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0"/>
          <p:cNvSpPr/>
          <p:nvPr/>
        </p:nvSpPr>
        <p:spPr>
          <a:xfrm>
            <a:off x="1554480" y="32004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STRUCTURED TRIAGE — OSI-SHAPED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0"/>
          <p:cNvSpPr/>
          <p:nvPr/>
        </p:nvSpPr>
        <p:spPr>
          <a:xfrm>
            <a:off x="365760" y="731520"/>
            <a:ext cx="114300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Cheapest checks first. Up the stack methodically.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0"/>
          <p:cNvSpPr/>
          <p:nvPr/>
        </p:nvSpPr>
        <p:spPr>
          <a:xfrm>
            <a:off x="365760" y="178308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500"/>
              <a:buFont typeface="Calibri"/>
              <a:buNone/>
            </a:pPr>
            <a:r>
              <a:rPr lang="en-US" sz="1500" b="0" i="1" u="none" strike="noStrike" cap="non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No guessing. No "I rebooted it." The value is the *method*, not the fix.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0"/>
          <p:cNvSpPr/>
          <p:nvPr/>
        </p:nvSpPr>
        <p:spPr>
          <a:xfrm>
            <a:off x="365760" y="2331720"/>
            <a:ext cx="11430000" cy="411480"/>
          </a:xfrm>
          <a:prstGeom prst="rect">
            <a:avLst/>
          </a:prstGeom>
          <a:solidFill>
            <a:srgbClr val="1E293B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0"/>
          <p:cNvSpPr/>
          <p:nvPr/>
        </p:nvSpPr>
        <p:spPr>
          <a:xfrm>
            <a:off x="365760" y="2331720"/>
            <a:ext cx="640080" cy="411480"/>
          </a:xfrm>
          <a:prstGeom prst="rect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0"/>
          <p:cNvSpPr/>
          <p:nvPr/>
        </p:nvSpPr>
        <p:spPr>
          <a:xfrm>
            <a:off x="365760" y="2331720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L7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0"/>
          <p:cNvSpPr/>
          <p:nvPr/>
        </p:nvSpPr>
        <p:spPr>
          <a:xfrm>
            <a:off x="1188720" y="233172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0"/>
          <p:cNvSpPr/>
          <p:nvPr/>
        </p:nvSpPr>
        <p:spPr>
          <a:xfrm>
            <a:off x="4023360" y="233172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nslookup · curl · application logs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0"/>
          <p:cNvSpPr/>
          <p:nvPr/>
        </p:nvSpPr>
        <p:spPr>
          <a:xfrm>
            <a:off x="365760" y="2834640"/>
            <a:ext cx="11430000" cy="411480"/>
          </a:xfrm>
          <a:prstGeom prst="rect">
            <a:avLst/>
          </a:prstGeom>
          <a:solidFill>
            <a:srgbClr val="1E293B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20"/>
          <p:cNvSpPr/>
          <p:nvPr/>
        </p:nvSpPr>
        <p:spPr>
          <a:xfrm>
            <a:off x="365760" y="2834640"/>
            <a:ext cx="640080" cy="411480"/>
          </a:xfrm>
          <a:prstGeom prst="rect">
            <a:avLst/>
          </a:prstGeom>
          <a:solidFill>
            <a:srgbClr val="94A3B8"/>
          </a:solidFill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0"/>
          <p:cNvSpPr/>
          <p:nvPr/>
        </p:nvSpPr>
        <p:spPr>
          <a:xfrm>
            <a:off x="365760" y="2834640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L6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0"/>
          <p:cNvSpPr/>
          <p:nvPr/>
        </p:nvSpPr>
        <p:spPr>
          <a:xfrm>
            <a:off x="1188720" y="283464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Presentation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0"/>
          <p:cNvSpPr/>
          <p:nvPr/>
        </p:nvSpPr>
        <p:spPr>
          <a:xfrm>
            <a:off x="4023360" y="283464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(rarely the cause)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0"/>
          <p:cNvSpPr/>
          <p:nvPr/>
        </p:nvSpPr>
        <p:spPr>
          <a:xfrm>
            <a:off x="365760" y="3337560"/>
            <a:ext cx="11430000" cy="411480"/>
          </a:xfrm>
          <a:prstGeom prst="rect">
            <a:avLst/>
          </a:prstGeom>
          <a:solidFill>
            <a:srgbClr val="1E293B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20"/>
          <p:cNvSpPr/>
          <p:nvPr/>
        </p:nvSpPr>
        <p:spPr>
          <a:xfrm>
            <a:off x="365760" y="3337560"/>
            <a:ext cx="640080" cy="411480"/>
          </a:xfrm>
          <a:prstGeom prst="rect">
            <a:avLst/>
          </a:prstGeom>
          <a:solidFill>
            <a:srgbClr val="94A3B8"/>
          </a:solidFill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20"/>
          <p:cNvSpPr/>
          <p:nvPr/>
        </p:nvSpPr>
        <p:spPr>
          <a:xfrm>
            <a:off x="365760" y="3337560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L5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0"/>
          <p:cNvSpPr/>
          <p:nvPr/>
        </p:nvSpPr>
        <p:spPr>
          <a:xfrm>
            <a:off x="1188720" y="333756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Session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0"/>
          <p:cNvSpPr/>
          <p:nvPr/>
        </p:nvSpPr>
        <p:spPr>
          <a:xfrm>
            <a:off x="4023360" y="333756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auth state · session tokens · TLS handshake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0"/>
          <p:cNvSpPr/>
          <p:nvPr/>
        </p:nvSpPr>
        <p:spPr>
          <a:xfrm>
            <a:off x="365760" y="3840480"/>
            <a:ext cx="11430000" cy="411480"/>
          </a:xfrm>
          <a:prstGeom prst="rect">
            <a:avLst/>
          </a:prstGeom>
          <a:solidFill>
            <a:srgbClr val="1E293B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20"/>
          <p:cNvSpPr/>
          <p:nvPr/>
        </p:nvSpPr>
        <p:spPr>
          <a:xfrm>
            <a:off x="365760" y="3840480"/>
            <a:ext cx="640080" cy="411480"/>
          </a:xfrm>
          <a:prstGeom prst="rect">
            <a:avLst/>
          </a:prstGeom>
          <a:solidFill>
            <a:srgbClr val="FB923C"/>
          </a:solidFill>
          <a:ln w="12700" cap="flat" cmpd="sng">
            <a:solidFill>
              <a:srgbClr val="FB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20"/>
          <p:cNvSpPr/>
          <p:nvPr/>
        </p:nvSpPr>
        <p:spPr>
          <a:xfrm>
            <a:off x="365760" y="3840480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0"/>
          <p:cNvSpPr/>
          <p:nvPr/>
        </p:nvSpPr>
        <p:spPr>
          <a:xfrm>
            <a:off x="1188720" y="384048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Transport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0"/>
          <p:cNvSpPr/>
          <p:nvPr/>
        </p:nvSpPr>
        <p:spPr>
          <a:xfrm>
            <a:off x="4023360" y="384048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telnet / nc · firewall rules · ACL hits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0"/>
          <p:cNvSpPr/>
          <p:nvPr/>
        </p:nvSpPr>
        <p:spPr>
          <a:xfrm>
            <a:off x="365760" y="4343400"/>
            <a:ext cx="11430000" cy="411480"/>
          </a:xfrm>
          <a:prstGeom prst="rect">
            <a:avLst/>
          </a:prstGeom>
          <a:solidFill>
            <a:srgbClr val="1E293B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0"/>
          <p:cNvSpPr/>
          <p:nvPr/>
        </p:nvSpPr>
        <p:spPr>
          <a:xfrm>
            <a:off x="365760" y="4343400"/>
            <a:ext cx="640080" cy="411480"/>
          </a:xfrm>
          <a:prstGeom prst="rect">
            <a:avLst/>
          </a:prstGeom>
          <a:solidFill>
            <a:srgbClr val="F97316"/>
          </a:solidFill>
          <a:ln w="1270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0"/>
          <p:cNvSpPr/>
          <p:nvPr/>
        </p:nvSpPr>
        <p:spPr>
          <a:xfrm>
            <a:off x="365760" y="4343400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0"/>
          <p:cNvSpPr/>
          <p:nvPr/>
        </p:nvSpPr>
        <p:spPr>
          <a:xfrm>
            <a:off x="1188720" y="434340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0"/>
          <p:cNvSpPr/>
          <p:nvPr/>
        </p:nvSpPr>
        <p:spPr>
          <a:xfrm>
            <a:off x="4023360" y="434340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ping · traceroute · routing table · NAT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0"/>
          <p:cNvSpPr/>
          <p:nvPr/>
        </p:nvSpPr>
        <p:spPr>
          <a:xfrm>
            <a:off x="365760" y="4846320"/>
            <a:ext cx="11430000" cy="411480"/>
          </a:xfrm>
          <a:prstGeom prst="rect">
            <a:avLst/>
          </a:prstGeom>
          <a:solidFill>
            <a:srgbClr val="1E293B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20"/>
          <p:cNvSpPr/>
          <p:nvPr/>
        </p:nvSpPr>
        <p:spPr>
          <a:xfrm>
            <a:off x="365760" y="4846320"/>
            <a:ext cx="640080" cy="411480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20"/>
          <p:cNvSpPr/>
          <p:nvPr/>
        </p:nvSpPr>
        <p:spPr>
          <a:xfrm>
            <a:off x="365760" y="4846320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0"/>
          <p:cNvSpPr/>
          <p:nvPr/>
        </p:nvSpPr>
        <p:spPr>
          <a:xfrm>
            <a:off x="1188720" y="484632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Data Link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0"/>
          <p:cNvSpPr/>
          <p:nvPr/>
        </p:nvSpPr>
        <p:spPr>
          <a:xfrm>
            <a:off x="4023360" y="484632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show interfaces status · MAC · VLAN · trunk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0"/>
          <p:cNvSpPr/>
          <p:nvPr/>
        </p:nvSpPr>
        <p:spPr>
          <a:xfrm>
            <a:off x="365760" y="5349240"/>
            <a:ext cx="11430000" cy="411480"/>
          </a:xfrm>
          <a:prstGeom prst="rect">
            <a:avLst/>
          </a:prstGeom>
          <a:solidFill>
            <a:srgbClr val="1E293B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20"/>
          <p:cNvSpPr/>
          <p:nvPr/>
        </p:nvSpPr>
        <p:spPr>
          <a:xfrm>
            <a:off x="365760" y="5349240"/>
            <a:ext cx="640080" cy="41148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20"/>
          <p:cNvSpPr/>
          <p:nvPr/>
        </p:nvSpPr>
        <p:spPr>
          <a:xfrm>
            <a:off x="365760" y="5349240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0"/>
          <p:cNvSpPr/>
          <p:nvPr/>
        </p:nvSpPr>
        <p:spPr>
          <a:xfrm>
            <a:off x="1188720" y="534924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Physical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0"/>
          <p:cNvSpPr/>
          <p:nvPr/>
        </p:nvSpPr>
        <p:spPr>
          <a:xfrm>
            <a:off x="4023360" y="534924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link light · cable · err-disabled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0"/>
          <p:cNvSpPr/>
          <p:nvPr/>
        </p:nvSpPr>
        <p:spPr>
          <a:xfrm>
            <a:off x="365760" y="6035040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Start at L1. Stop the moment a check disconfirms an assumption — that's where the bug lives.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0"/>
          <p:cNvSpPr/>
          <p:nvPr/>
        </p:nvSpPr>
        <p:spPr>
          <a:xfrm>
            <a:off x="365760" y="644652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QVIS  ·  Olumide Akomolafe  ·  Conestoga Network Support Technician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0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18 / 23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1"/>
          <p:cNvSpPr/>
          <p:nvPr/>
        </p:nvSpPr>
        <p:spPr>
          <a:xfrm>
            <a:off x="365760" y="320040"/>
            <a:ext cx="1005840" cy="292608"/>
          </a:xfrm>
          <a:prstGeom prst="rect">
            <a:avLst/>
          </a:prstGeom>
          <a:solidFill>
            <a:srgbClr val="F97316"/>
          </a:solidFill>
          <a:ln w="1270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21"/>
          <p:cNvSpPr/>
          <p:nvPr/>
        </p:nvSpPr>
        <p:spPr>
          <a:xfrm>
            <a:off x="365760" y="32004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EP 04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1"/>
          <p:cNvSpPr/>
          <p:nvPr/>
        </p:nvSpPr>
        <p:spPr>
          <a:xfrm>
            <a:off x="1554480" y="32004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CASE 1  ·  PORT-SECURITY ERR-DISABLE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1"/>
          <p:cNvSpPr/>
          <p:nvPr/>
        </p:nvSpPr>
        <p:spPr>
          <a:xfrm>
            <a:off x="365760" y="731520"/>
            <a:ext cx="114300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"My new sales rep's PC has no network."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1"/>
          <p:cNvSpPr/>
          <p:nvPr/>
        </p:nvSpPr>
        <p:spPr>
          <a:xfrm>
            <a:off x="365760" y="1828800"/>
            <a:ext cx="11430000" cy="777240"/>
          </a:xfrm>
          <a:prstGeom prst="rect">
            <a:avLst/>
          </a:prstGeom>
          <a:solidFill>
            <a:srgbClr val="1E293B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21"/>
          <p:cNvSpPr/>
          <p:nvPr/>
        </p:nvSpPr>
        <p:spPr>
          <a:xfrm>
            <a:off x="548640" y="1874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SYMPTOM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1"/>
          <p:cNvSpPr/>
          <p:nvPr/>
        </p:nvSpPr>
        <p:spPr>
          <a:xfrm>
            <a:off x="548640" y="214884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Liam, new sales rep. Plugged into R4 (bullpen). PC and phone on same cable both dead.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1"/>
          <p:cNvSpPr/>
          <p:nvPr/>
        </p:nvSpPr>
        <p:spPr>
          <a:xfrm>
            <a:off x="365760" y="2697480"/>
            <a:ext cx="5486400" cy="2194560"/>
          </a:xfrm>
          <a:prstGeom prst="rect">
            <a:avLst/>
          </a:prstGeom>
          <a:solidFill>
            <a:srgbClr val="1E293B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21"/>
          <p:cNvSpPr/>
          <p:nvPr/>
        </p:nvSpPr>
        <p:spPr>
          <a:xfrm>
            <a:off x="548640" y="27432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TRIAGE — UP THE STACK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1"/>
          <p:cNvSpPr/>
          <p:nvPr/>
        </p:nvSpPr>
        <p:spPr>
          <a:xfrm>
            <a:off x="640080" y="3108960"/>
            <a:ext cx="201168" cy="201168"/>
          </a:xfrm>
          <a:prstGeom prst="ellipse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21"/>
          <p:cNvSpPr/>
          <p:nvPr/>
        </p:nvSpPr>
        <p:spPr>
          <a:xfrm>
            <a:off x="914400" y="306324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L1 — link light on switch port and NIC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1"/>
          <p:cNvSpPr/>
          <p:nvPr/>
        </p:nvSpPr>
        <p:spPr>
          <a:xfrm>
            <a:off x="640080" y="3493008"/>
            <a:ext cx="201168" cy="201168"/>
          </a:xfrm>
          <a:prstGeom prst="ellipse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21"/>
          <p:cNvSpPr/>
          <p:nvPr/>
        </p:nvSpPr>
        <p:spPr>
          <a:xfrm>
            <a:off x="914400" y="3447288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L2 — show interfaces status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1"/>
          <p:cNvSpPr/>
          <p:nvPr/>
        </p:nvSpPr>
        <p:spPr>
          <a:xfrm>
            <a:off x="640080" y="3877056"/>
            <a:ext cx="201168" cy="201168"/>
          </a:xfrm>
          <a:prstGeom prst="ellipse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21"/>
          <p:cNvSpPr/>
          <p:nvPr/>
        </p:nvSpPr>
        <p:spPr>
          <a:xfrm>
            <a:off x="914400" y="3831336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L2 — show interfaces status err-disabled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1"/>
          <p:cNvSpPr/>
          <p:nvPr/>
        </p:nvSpPr>
        <p:spPr>
          <a:xfrm>
            <a:off x="640080" y="4261104"/>
            <a:ext cx="201168" cy="201168"/>
          </a:xfrm>
          <a:prstGeom prst="ellipse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21"/>
          <p:cNvSpPr/>
          <p:nvPr/>
        </p:nvSpPr>
        <p:spPr>
          <a:xfrm>
            <a:off x="914400" y="4215384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L3 — ipconfig /all → ping gateway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1"/>
          <p:cNvSpPr/>
          <p:nvPr/>
        </p:nvSpPr>
        <p:spPr>
          <a:xfrm>
            <a:off x="6035040" y="2697480"/>
            <a:ext cx="5760720" cy="2194560"/>
          </a:xfrm>
          <a:prstGeom prst="rect">
            <a:avLst/>
          </a:prstGeom>
          <a:solidFill>
            <a:srgbClr val="1E293B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21"/>
          <p:cNvSpPr/>
          <p:nvPr/>
        </p:nvSpPr>
        <p:spPr>
          <a:xfrm>
            <a:off x="6217920" y="27432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ROOT CAUSE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1"/>
          <p:cNvSpPr/>
          <p:nvPr/>
        </p:nvSpPr>
        <p:spPr>
          <a:xfrm>
            <a:off x="6217920" y="3063240"/>
            <a:ext cx="5486400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Port came up err-disabled with reason psecure-violation. Liam plugged in a personal USB-Wi-Fi dongle. Phone (MAC 1) + PC NIC (MAC 2) + dongle (MAC 3) tripped the maximum-2 rule. Violation action shutdown closed the port.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1"/>
          <p:cNvSpPr/>
          <p:nvPr/>
        </p:nvSpPr>
        <p:spPr>
          <a:xfrm>
            <a:off x="365760" y="4937760"/>
            <a:ext cx="5486400" cy="1554480"/>
          </a:xfrm>
          <a:prstGeom prst="rect">
            <a:avLst/>
          </a:prstGeom>
          <a:solidFill>
            <a:srgbClr val="1E293B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21"/>
          <p:cNvSpPr/>
          <p:nvPr/>
        </p:nvSpPr>
        <p:spPr>
          <a:xfrm>
            <a:off x="548640" y="49834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FIX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1"/>
          <p:cNvSpPr/>
          <p:nvPr/>
        </p:nvSpPr>
        <p:spPr>
          <a:xfrm>
            <a:off x="548640" y="5303520"/>
            <a:ext cx="5212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ACC-SW1#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configure terminal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interface Fa0/11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shutdown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no shutdown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write memory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1"/>
          <p:cNvSpPr/>
          <p:nvPr/>
        </p:nvSpPr>
        <p:spPr>
          <a:xfrm>
            <a:off x="6035040" y="4937760"/>
            <a:ext cx="5760720" cy="1554480"/>
          </a:xfrm>
          <a:prstGeom prst="rect">
            <a:avLst/>
          </a:prstGeom>
          <a:solidFill>
            <a:srgbClr val="1E293B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21"/>
          <p:cNvSpPr/>
          <p:nvPr/>
        </p:nvSpPr>
        <p:spPr>
          <a:xfrm>
            <a:off x="6217920" y="498348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PREVENTION (RUNBOOK CHANGE)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1"/>
          <p:cNvSpPr/>
          <p:nvPr/>
        </p:nvSpPr>
        <p:spPr>
          <a:xfrm>
            <a:off x="6217920" y="5303520"/>
            <a:ext cx="548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Port-security did its job. Add to onboarding pack: corporate Wi-Fi only, no personal USB-NICs. If this becomes frequent, consider violation restrict.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1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19 / 23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2"/>
          <p:cNvSpPr/>
          <p:nvPr/>
        </p:nvSpPr>
        <p:spPr>
          <a:xfrm>
            <a:off x="365760" y="320040"/>
            <a:ext cx="1005840" cy="292608"/>
          </a:xfrm>
          <a:prstGeom prst="rect">
            <a:avLst/>
          </a:prstGeom>
          <a:solidFill>
            <a:srgbClr val="F97316"/>
          </a:solidFill>
          <a:ln w="1270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22"/>
          <p:cNvSpPr/>
          <p:nvPr/>
        </p:nvSpPr>
        <p:spPr>
          <a:xfrm>
            <a:off x="365760" y="32004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EP 04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2"/>
          <p:cNvSpPr/>
          <p:nvPr/>
        </p:nvSpPr>
        <p:spPr>
          <a:xfrm>
            <a:off x="1554480" y="32004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CASE 2  ·  ACL ORDERING MISTAKE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2"/>
          <p:cNvSpPr/>
          <p:nvPr/>
        </p:nvSpPr>
        <p:spPr>
          <a:xfrm>
            <a:off x="365760" y="731520"/>
            <a:ext cx="114300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"All of Sales lost the file server at 11 a.m."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2"/>
          <p:cNvSpPr/>
          <p:nvPr/>
        </p:nvSpPr>
        <p:spPr>
          <a:xfrm>
            <a:off x="365760" y="1828800"/>
            <a:ext cx="11430000" cy="777240"/>
          </a:xfrm>
          <a:prstGeom prst="rect">
            <a:avLst/>
          </a:prstGeom>
          <a:solidFill>
            <a:srgbClr val="1E293B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2"/>
          <p:cNvSpPr/>
          <p:nvPr/>
        </p:nvSpPr>
        <p:spPr>
          <a:xfrm>
            <a:off x="548640" y="1874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SYMPTOM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2"/>
          <p:cNvSpPr/>
          <p:nvPr/>
        </p:nvSpPr>
        <p:spPr>
          <a:xfrm>
            <a:off x="548640" y="214884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Every Sales PC has internet but can't reach \\FS1\sales. EXEC-FIN and TECH are fine.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2"/>
          <p:cNvSpPr/>
          <p:nvPr/>
        </p:nvSpPr>
        <p:spPr>
          <a:xfrm>
            <a:off x="365760" y="2697480"/>
            <a:ext cx="5486400" cy="2194560"/>
          </a:xfrm>
          <a:prstGeom prst="rect">
            <a:avLst/>
          </a:prstGeom>
          <a:solidFill>
            <a:srgbClr val="1E293B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22"/>
          <p:cNvSpPr/>
          <p:nvPr/>
        </p:nvSpPr>
        <p:spPr>
          <a:xfrm>
            <a:off x="548640" y="27432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TRIAGE — UP THE STACK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2"/>
          <p:cNvSpPr/>
          <p:nvPr/>
        </p:nvSpPr>
        <p:spPr>
          <a:xfrm>
            <a:off x="640080" y="3108960"/>
            <a:ext cx="201168" cy="201168"/>
          </a:xfrm>
          <a:prstGeom prst="ellipse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22"/>
          <p:cNvSpPr/>
          <p:nvPr/>
        </p:nvSpPr>
        <p:spPr>
          <a:xfrm>
            <a:off x="914400" y="306324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L3 — ping gateway from Sales PC: OK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2"/>
          <p:cNvSpPr/>
          <p:nvPr/>
        </p:nvSpPr>
        <p:spPr>
          <a:xfrm>
            <a:off x="640080" y="3493008"/>
            <a:ext cx="201168" cy="201168"/>
          </a:xfrm>
          <a:prstGeom prst="ellipse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22"/>
          <p:cNvSpPr/>
          <p:nvPr/>
        </p:nvSpPr>
        <p:spPr>
          <a:xfrm>
            <a:off x="914400" y="3447288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L3 — ping FS1 from Sales PC: FAILS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2"/>
          <p:cNvSpPr/>
          <p:nvPr/>
        </p:nvSpPr>
        <p:spPr>
          <a:xfrm>
            <a:off x="640080" y="3877056"/>
            <a:ext cx="201168" cy="201168"/>
          </a:xfrm>
          <a:prstGeom prst="ellipse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22"/>
          <p:cNvSpPr/>
          <p:nvPr/>
        </p:nvSpPr>
        <p:spPr>
          <a:xfrm>
            <a:off x="914400" y="3831336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L3 — ping FS1 from CORE-SW1: OK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2"/>
          <p:cNvSpPr/>
          <p:nvPr/>
        </p:nvSpPr>
        <p:spPr>
          <a:xfrm>
            <a:off x="640080" y="4261104"/>
            <a:ext cx="201168" cy="201168"/>
          </a:xfrm>
          <a:prstGeom prst="ellipse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22"/>
          <p:cNvSpPr/>
          <p:nvPr/>
        </p:nvSpPr>
        <p:spPr>
          <a:xfrm>
            <a:off x="914400" y="4215384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L4/Policy — show access-lists ACL-STAFF-IN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2"/>
          <p:cNvSpPr/>
          <p:nvPr/>
        </p:nvSpPr>
        <p:spPr>
          <a:xfrm>
            <a:off x="6035040" y="2697480"/>
            <a:ext cx="5760720" cy="2194560"/>
          </a:xfrm>
          <a:prstGeom prst="rect">
            <a:avLst/>
          </a:prstGeom>
          <a:solidFill>
            <a:srgbClr val="1E293B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22"/>
          <p:cNvSpPr/>
          <p:nvPr/>
        </p:nvSpPr>
        <p:spPr>
          <a:xfrm>
            <a:off x="6217920" y="27432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ROOT CAUSE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2"/>
          <p:cNvSpPr/>
          <p:nvPr/>
        </p:nvSpPr>
        <p:spPr>
          <a:xfrm>
            <a:off x="6217920" y="3063240"/>
            <a:ext cx="5486400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The senior network engineer was hardening ACL-STAFF-IN that morning and pasted the deny-RFC1918 catch-all before the SMB permit lines. ACLs match top-down, first hit wins. Sales → SERVERS hit the deny first.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2"/>
          <p:cNvSpPr/>
          <p:nvPr/>
        </p:nvSpPr>
        <p:spPr>
          <a:xfrm>
            <a:off x="365760" y="4937760"/>
            <a:ext cx="5486400" cy="1554480"/>
          </a:xfrm>
          <a:prstGeom prst="rect">
            <a:avLst/>
          </a:prstGeom>
          <a:solidFill>
            <a:srgbClr val="1E293B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22"/>
          <p:cNvSpPr/>
          <p:nvPr/>
        </p:nvSpPr>
        <p:spPr>
          <a:xfrm>
            <a:off x="548640" y="49834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FIX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2"/>
          <p:cNvSpPr/>
          <p:nvPr/>
        </p:nvSpPr>
        <p:spPr>
          <a:xfrm>
            <a:off x="548640" y="5303520"/>
            <a:ext cx="5212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CORE-SW1(config)# ip access-list extended ACL-STAFF-IN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no 60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200 deny ip 10.10.40.0 0.0.0.255 10.10.30.0 0.0.0.255 log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2"/>
          <p:cNvSpPr/>
          <p:nvPr/>
        </p:nvSpPr>
        <p:spPr>
          <a:xfrm>
            <a:off x="6035040" y="4937760"/>
            <a:ext cx="5760720" cy="1554480"/>
          </a:xfrm>
          <a:prstGeom prst="rect">
            <a:avLst/>
          </a:prstGeom>
          <a:solidFill>
            <a:srgbClr val="1E293B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22"/>
          <p:cNvSpPr/>
          <p:nvPr/>
        </p:nvSpPr>
        <p:spPr>
          <a:xfrm>
            <a:off x="6217920" y="498348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PREVENTION (RUNBOOK CHANGE)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2"/>
          <p:cNvSpPr/>
          <p:nvPr/>
        </p:nvSpPr>
        <p:spPr>
          <a:xfrm>
            <a:off x="6217920" y="5303520"/>
            <a:ext cx="548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ACL changes go through peer review with explicit sequence numbers. Hit-count alarm on any deny+log line that suddenly starts incrementing.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2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20 / 23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3"/>
          <p:cNvSpPr/>
          <p:nvPr/>
        </p:nvSpPr>
        <p:spPr>
          <a:xfrm>
            <a:off x="365760" y="320040"/>
            <a:ext cx="1005840" cy="292608"/>
          </a:xfrm>
          <a:prstGeom prst="rect">
            <a:avLst/>
          </a:prstGeom>
          <a:solidFill>
            <a:srgbClr val="F97316"/>
          </a:solidFill>
          <a:ln w="1270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23"/>
          <p:cNvSpPr/>
          <p:nvPr/>
        </p:nvSpPr>
        <p:spPr>
          <a:xfrm>
            <a:off x="365760" y="32004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EP 04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3"/>
          <p:cNvSpPr/>
          <p:nvPr/>
        </p:nvSpPr>
        <p:spPr>
          <a:xfrm>
            <a:off x="1554480" y="32004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CASE 3  ·  DNS · ACL · DHCP MISALIGNMENT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3"/>
          <p:cNvSpPr/>
          <p:nvPr/>
        </p:nvSpPr>
        <p:spPr>
          <a:xfrm>
            <a:off x="365760" y="731520"/>
            <a:ext cx="114300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"DNS works for everyone except the Training Lab."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3"/>
          <p:cNvSpPr/>
          <p:nvPr/>
        </p:nvSpPr>
        <p:spPr>
          <a:xfrm>
            <a:off x="365760" y="1828800"/>
            <a:ext cx="11430000" cy="777240"/>
          </a:xfrm>
          <a:prstGeom prst="rect">
            <a:avLst/>
          </a:prstGeom>
          <a:solidFill>
            <a:srgbClr val="1E293B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23"/>
          <p:cNvSpPr/>
          <p:nvPr/>
        </p:nvSpPr>
        <p:spPr>
          <a:xfrm>
            <a:off x="548640" y="1874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SYMPTOM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3"/>
          <p:cNvSpPr/>
          <p:nvPr/>
        </p:nvSpPr>
        <p:spPr>
          <a:xfrm>
            <a:off x="548640" y="214884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Lab PCs on VLAN 60 get DHCP, can ping 8.8.8.8, but nslookup google.com times out.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3"/>
          <p:cNvSpPr/>
          <p:nvPr/>
        </p:nvSpPr>
        <p:spPr>
          <a:xfrm>
            <a:off x="365760" y="2697480"/>
            <a:ext cx="5486400" cy="2194560"/>
          </a:xfrm>
          <a:prstGeom prst="rect">
            <a:avLst/>
          </a:prstGeom>
          <a:solidFill>
            <a:srgbClr val="1E293B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23"/>
          <p:cNvSpPr/>
          <p:nvPr/>
        </p:nvSpPr>
        <p:spPr>
          <a:xfrm>
            <a:off x="548640" y="27432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TRIAGE — UP THE STACK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3"/>
          <p:cNvSpPr/>
          <p:nvPr/>
        </p:nvSpPr>
        <p:spPr>
          <a:xfrm>
            <a:off x="640080" y="3108960"/>
            <a:ext cx="201168" cy="201168"/>
          </a:xfrm>
          <a:prstGeom prst="ellipse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23"/>
          <p:cNvSpPr/>
          <p:nvPr/>
        </p:nvSpPr>
        <p:spPr>
          <a:xfrm>
            <a:off x="914400" y="306324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nslookup google.com 10.10.20.10 → timeout (DC1)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3"/>
          <p:cNvSpPr/>
          <p:nvPr/>
        </p:nvSpPr>
        <p:spPr>
          <a:xfrm>
            <a:off x="640080" y="3493008"/>
            <a:ext cx="201168" cy="201168"/>
          </a:xfrm>
          <a:prstGeom prst="ellipse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23"/>
          <p:cNvSpPr/>
          <p:nvPr/>
        </p:nvSpPr>
        <p:spPr>
          <a:xfrm>
            <a:off x="914400" y="3447288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nslookup google.com 1.1.1.1 → answers (Cloudflare)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3"/>
          <p:cNvSpPr/>
          <p:nvPr/>
        </p:nvSpPr>
        <p:spPr>
          <a:xfrm>
            <a:off x="640080" y="3877056"/>
            <a:ext cx="201168" cy="201168"/>
          </a:xfrm>
          <a:prstGeom prst="ellipse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23"/>
          <p:cNvSpPr/>
          <p:nvPr/>
        </p:nvSpPr>
        <p:spPr>
          <a:xfrm>
            <a:off x="914400" y="3831336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ping 10.10.20.10 → timeout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3"/>
          <p:cNvSpPr/>
          <p:nvPr/>
        </p:nvSpPr>
        <p:spPr>
          <a:xfrm>
            <a:off x="640080" y="4261104"/>
            <a:ext cx="201168" cy="201168"/>
          </a:xfrm>
          <a:prstGeom prst="ellipse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23"/>
          <p:cNvSpPr/>
          <p:nvPr/>
        </p:nvSpPr>
        <p:spPr>
          <a:xfrm>
            <a:off x="914400" y="4215384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show access-lists ACL-LAB-IN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3"/>
          <p:cNvSpPr/>
          <p:nvPr/>
        </p:nvSpPr>
        <p:spPr>
          <a:xfrm>
            <a:off x="6035040" y="2697480"/>
            <a:ext cx="5760720" cy="2194560"/>
          </a:xfrm>
          <a:prstGeom prst="rect">
            <a:avLst/>
          </a:prstGeom>
          <a:solidFill>
            <a:srgbClr val="1E293B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23"/>
          <p:cNvSpPr/>
          <p:nvPr/>
        </p:nvSpPr>
        <p:spPr>
          <a:xfrm>
            <a:off x="6217920" y="27432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ROOT CAUSE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3"/>
          <p:cNvSpPr/>
          <p:nvPr/>
        </p:nvSpPr>
        <p:spPr>
          <a:xfrm>
            <a:off x="6217920" y="3063240"/>
            <a:ext cx="5486400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ACL-LAB-IN permits DNS only to DC1 (10.10.20.10), not DC2. But the lab DHCP scope was handing out BOTH DCs. Clients trying DC2 timed out; Windows would fall back to DC1 after several seconds — which is the timeout the users were reporting.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3"/>
          <p:cNvSpPr/>
          <p:nvPr/>
        </p:nvSpPr>
        <p:spPr>
          <a:xfrm>
            <a:off x="365760" y="4937760"/>
            <a:ext cx="5486400" cy="1554480"/>
          </a:xfrm>
          <a:prstGeom prst="rect">
            <a:avLst/>
          </a:prstGeom>
          <a:solidFill>
            <a:srgbClr val="1E293B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23"/>
          <p:cNvSpPr/>
          <p:nvPr/>
        </p:nvSpPr>
        <p:spPr>
          <a:xfrm>
            <a:off x="548640" y="49834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FIX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3"/>
          <p:cNvSpPr/>
          <p:nvPr/>
        </p:nvSpPr>
        <p:spPr>
          <a:xfrm>
            <a:off x="548640" y="5303520"/>
            <a:ext cx="5212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Set-DhcpServerv4OptionValue 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-ScopeId 10.10.60.0 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-DnsServer 10.10.20.10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3"/>
          <p:cNvSpPr/>
          <p:nvPr/>
        </p:nvSpPr>
        <p:spPr>
          <a:xfrm>
            <a:off x="6035040" y="4937760"/>
            <a:ext cx="5760720" cy="1554480"/>
          </a:xfrm>
          <a:prstGeom prst="rect">
            <a:avLst/>
          </a:prstGeom>
          <a:solidFill>
            <a:srgbClr val="1E293B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23"/>
          <p:cNvSpPr/>
          <p:nvPr/>
        </p:nvSpPr>
        <p:spPr>
          <a:xfrm>
            <a:off x="6217920" y="498348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PREVENTION (RUNBOOK CHANGE)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3"/>
          <p:cNvSpPr/>
          <p:nvPr/>
        </p:nvSpPr>
        <p:spPr>
          <a:xfrm>
            <a:off x="6217920" y="5303520"/>
            <a:ext cx="548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ACL and DHCP changes share one change document. Synthetic monitor hits both DCs from the lab VLAN every hour and pages on either failing.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3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21 / 23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4"/>
          <p:cNvSpPr/>
          <p:nvPr/>
        </p:nvSpPr>
        <p:spPr>
          <a:xfrm>
            <a:off x="365760" y="320040"/>
            <a:ext cx="1005840" cy="292608"/>
          </a:xfrm>
          <a:prstGeom prst="rect">
            <a:avLst/>
          </a:prstGeom>
          <a:solidFill>
            <a:srgbClr val="F97316"/>
          </a:solidFill>
          <a:ln w="1270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24"/>
          <p:cNvSpPr/>
          <p:nvPr/>
        </p:nvSpPr>
        <p:spPr>
          <a:xfrm>
            <a:off x="365760" y="32004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EP 04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4"/>
          <p:cNvSpPr/>
          <p:nvPr/>
        </p:nvSpPr>
        <p:spPr>
          <a:xfrm>
            <a:off x="1554480" y="32004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WHAT THESE THREE HAVE IN COMMON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4"/>
          <p:cNvSpPr/>
          <p:nvPr/>
        </p:nvSpPr>
        <p:spPr>
          <a:xfrm>
            <a:off x="365760" y="731520"/>
            <a:ext cx="114300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The fix is small. The triage is the value.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4"/>
          <p:cNvSpPr/>
          <p:nvPr/>
        </p:nvSpPr>
        <p:spPr>
          <a:xfrm>
            <a:off x="365760" y="2194560"/>
            <a:ext cx="5577840" cy="3474720"/>
          </a:xfrm>
          <a:prstGeom prst="rect">
            <a:avLst/>
          </a:prstGeom>
          <a:solidFill>
            <a:srgbClr val="1E293B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24"/>
          <p:cNvSpPr/>
          <p:nvPr/>
        </p:nvSpPr>
        <p:spPr>
          <a:xfrm>
            <a:off x="640080" y="23774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THE FIX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4"/>
          <p:cNvSpPr/>
          <p:nvPr/>
        </p:nvSpPr>
        <p:spPr>
          <a:xfrm>
            <a:off x="640080" y="283464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1.  One toggle on a switch port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4"/>
          <p:cNvSpPr/>
          <p:nvPr/>
        </p:nvSpPr>
        <p:spPr>
          <a:xfrm>
            <a:off x="640080" y="333756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2.  One ACL re-sequence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4"/>
          <p:cNvSpPr/>
          <p:nvPr/>
        </p:nvSpPr>
        <p:spPr>
          <a:xfrm>
            <a:off x="640080" y="384048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3.  One DHCP option override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4"/>
          <p:cNvSpPr/>
          <p:nvPr/>
        </p:nvSpPr>
        <p:spPr>
          <a:xfrm>
            <a:off x="640080" y="457200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Every fix above is one or two lines. Nobody pays a technician for the line — they pay for finding it.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4"/>
          <p:cNvSpPr/>
          <p:nvPr/>
        </p:nvSpPr>
        <p:spPr>
          <a:xfrm>
            <a:off x="6217920" y="2194560"/>
            <a:ext cx="5577840" cy="3474720"/>
          </a:xfrm>
          <a:prstGeom prst="rect">
            <a:avLst/>
          </a:prstGeom>
          <a:solidFill>
            <a:srgbClr val="1E293B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24"/>
          <p:cNvSpPr/>
          <p:nvPr/>
        </p:nvSpPr>
        <p:spPr>
          <a:xfrm>
            <a:off x="6492240" y="23774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THE TRIAGE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4"/>
          <p:cNvSpPr/>
          <p:nvPr/>
        </p:nvSpPr>
        <p:spPr>
          <a:xfrm>
            <a:off x="6492240" y="283464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1.  Move methodically up the OSI stack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4"/>
          <p:cNvSpPr/>
          <p:nvPr/>
        </p:nvSpPr>
        <p:spPr>
          <a:xfrm>
            <a:off x="6492240" y="333756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2.  Cheapest checks first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4"/>
          <p:cNvSpPr/>
          <p:nvPr/>
        </p:nvSpPr>
        <p:spPr>
          <a:xfrm>
            <a:off x="6492240" y="384048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3.  Hit counts and err-disabled before guessing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4"/>
          <p:cNvSpPr/>
          <p:nvPr/>
        </p:nvSpPr>
        <p:spPr>
          <a:xfrm>
            <a:off x="6492240" y="457200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Be willing to say "I haven't reproduced it yet" instead of pretending. That's the technician part.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4"/>
          <p:cNvSpPr/>
          <p:nvPr/>
        </p:nvSpPr>
        <p:spPr>
          <a:xfrm>
            <a:off x="365760" y="589788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Six cases total in the portfolio — three shown here, three more in the source repo (printer drift, GPO trust-relationship break, Wi-Fi RF saturation in the conference room).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4"/>
          <p:cNvSpPr/>
          <p:nvPr/>
        </p:nvSpPr>
        <p:spPr>
          <a:xfrm>
            <a:off x="365760" y="644652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QVIS  ·  Olumide Akomolafe  ·  Conestoga Network Support Technician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4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22 / 23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5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97316"/>
          </a:solidFill>
          <a:ln w="1270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25"/>
          <p:cNvSpPr/>
          <p:nvPr/>
        </p:nvSpPr>
        <p:spPr>
          <a:xfrm>
            <a:off x="822960" y="6400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THANKS FOR WATCHING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5"/>
          <p:cNvSpPr/>
          <p:nvPr/>
        </p:nvSpPr>
        <p:spPr>
          <a:xfrm>
            <a:off x="822960" y="1097280"/>
            <a:ext cx="109728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6400"/>
              <a:buFont typeface="Calibri"/>
              <a:buNone/>
            </a:pPr>
            <a:r>
              <a:rPr lang="en-US" sz="64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I'm available.</a:t>
            </a:r>
            <a:endParaRPr sz="6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5"/>
          <p:cNvSpPr/>
          <p:nvPr/>
        </p:nvSpPr>
        <p:spPr>
          <a:xfrm>
            <a:off x="822960" y="22402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2200"/>
              <a:buFont typeface="Calibri"/>
              <a:buNone/>
            </a:pPr>
            <a:r>
              <a:rPr lang="en-US" sz="2200" b="0" i="1" u="none" strike="noStrike" cap="non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Looking for Tier-1 / Tier-2 Network Support roles in Ontario.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5"/>
          <p:cNvSpPr/>
          <p:nvPr/>
        </p:nvSpPr>
        <p:spPr>
          <a:xfrm>
            <a:off x="822960" y="31089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EMAIL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5"/>
          <p:cNvSpPr/>
          <p:nvPr/>
        </p:nvSpPr>
        <p:spPr>
          <a:xfrm>
            <a:off x="3200400" y="310896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600"/>
              <a:buFont typeface="Consolas"/>
              <a:buNone/>
            </a:pPr>
            <a:r>
              <a:rPr lang="en-US" sz="1600" b="1" i="0" u="none" strike="noStrike" cap="non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oakomolafe404@gmail.com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5"/>
          <p:cNvSpPr/>
          <p:nvPr/>
        </p:nvSpPr>
        <p:spPr>
          <a:xfrm>
            <a:off x="822960" y="374904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LINKEDIN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5"/>
          <p:cNvSpPr/>
          <p:nvPr/>
        </p:nvSpPr>
        <p:spPr>
          <a:xfrm>
            <a:off x="3200400" y="374904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600"/>
              <a:buFont typeface="Calibri"/>
              <a:buNone/>
            </a:pPr>
            <a:r>
              <a:rPr lang="en-US" sz="1600" b="0" i="0" u="none" strike="noStrike" cap="none" dirty="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https://www.linkedin.com/in/olumide-akomolafe-818311391/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5"/>
          <p:cNvSpPr/>
          <p:nvPr/>
        </p:nvSpPr>
        <p:spPr>
          <a:xfrm>
            <a:off x="822960" y="43891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LOCATION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5"/>
          <p:cNvSpPr/>
          <p:nvPr/>
        </p:nvSpPr>
        <p:spPr>
          <a:xfrm>
            <a:off x="3200400" y="438912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Cambridge, Ontario · willing to commute KW + Toronto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5"/>
          <p:cNvSpPr/>
          <p:nvPr/>
        </p:nvSpPr>
        <p:spPr>
          <a:xfrm>
            <a:off x="822960" y="502920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SOURCE REPO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5"/>
          <p:cNvSpPr/>
          <p:nvPr/>
        </p:nvSpPr>
        <p:spPr>
          <a:xfrm>
            <a:off x="3200400" y="502920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600"/>
              <a:buFont typeface="Calibri"/>
              <a:buNone/>
            </a:pPr>
            <a:r>
              <a:rPr lang="en-US" sz="1600" b="0" i="0" u="none" strike="noStrike" cap="none" dirty="0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https://github.com/meeeiii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9" name="Google Shape;589;p25"/>
          <p:cNvCxnSpPr/>
          <p:nvPr/>
        </p:nvCxnSpPr>
        <p:spPr>
          <a:xfrm>
            <a:off x="822960" y="5852160"/>
            <a:ext cx="3657600" cy="0"/>
          </a:xfrm>
          <a:prstGeom prst="straightConnector1">
            <a:avLst/>
          </a:prstGeom>
          <a:noFill/>
          <a:ln w="3810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90" name="Google Shape;590;p25"/>
          <p:cNvSpPr/>
          <p:nvPr/>
        </p:nvSpPr>
        <p:spPr>
          <a:xfrm>
            <a:off x="822960" y="59436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2000"/>
              <a:buFont typeface="Calibri"/>
              <a:buNone/>
            </a:pPr>
            <a:r>
              <a:rPr lang="en-US" sz="2000" b="1" i="1" u="none" strike="noStrike" cap="non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Tell me what you'd want me to build next.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5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23 / 23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2806</Words>
  <Application>Microsoft Office PowerPoint</Application>
  <PresentationFormat>Widescreen</PresentationFormat>
  <Paragraphs>549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CITM</dc:creator>
  <cp:lastModifiedBy>Olumide Akomolafe</cp:lastModifiedBy>
  <cp:revision>4</cp:revision>
  <dcterms:modified xsi:type="dcterms:W3CDTF">2026-05-28T00:37:02Z</dcterms:modified>
</cp:coreProperties>
</file>